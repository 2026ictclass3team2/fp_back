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75" r:id="rId6"/>
    <p:sldId id="276" r:id="rId7"/>
    <p:sldId id="278" r:id="rId8"/>
    <p:sldId id="277" r:id="rId9"/>
    <p:sldId id="279" r:id="rId10"/>
    <p:sldId id="280" r:id="rId11"/>
    <p:sldId id="264" r:id="rId12"/>
    <p:sldId id="281" r:id="rId13"/>
    <p:sldId id="282" r:id="rId14"/>
    <p:sldId id="283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VCjVD+VUo/lnHeinYNvW2o4Aw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C51"/>
    <a:srgbClr val="337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4B4578-B870-4872-8C4B-2AABED672D17}">
  <a:tblStyle styleId="{A84B4578-B870-4872-8C4B-2AABED672D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108" autoAdjust="0"/>
  </p:normalViewPr>
  <p:slideViewPr>
    <p:cSldViewPr snapToGrid="0">
      <p:cViewPr varScale="1">
        <p:scale>
          <a:sx n="54" d="100"/>
          <a:sy n="54" d="100"/>
        </p:scale>
        <p:origin x="960" y="72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D24B54B5-550B-4F56-70B6-E54A24BE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>
            <a:extLst>
              <a:ext uri="{FF2B5EF4-FFF2-40B4-BE49-F238E27FC236}">
                <a16:creationId xmlns:a16="http://schemas.microsoft.com/office/drawing/2014/main" id="{59EDB3C8-AF82-8D02-EDDB-10A417C8E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:notes">
            <a:extLst>
              <a:ext uri="{FF2B5EF4-FFF2-40B4-BE49-F238E27FC236}">
                <a16:creationId xmlns:a16="http://schemas.microsoft.com/office/drawing/2014/main" id="{DD9B5227-C6A5-C32E-13E5-5ED6262B7B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2669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53F023A1-566A-5A84-869E-BC65D505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>
            <a:extLst>
              <a:ext uri="{FF2B5EF4-FFF2-40B4-BE49-F238E27FC236}">
                <a16:creationId xmlns:a16="http://schemas.microsoft.com/office/drawing/2014/main" id="{E619D779-E39D-9573-8163-D70471310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:notes">
            <a:extLst>
              <a:ext uri="{FF2B5EF4-FFF2-40B4-BE49-F238E27FC236}">
                <a16:creationId xmlns:a16="http://schemas.microsoft.com/office/drawing/2014/main" id="{4C9FB843-B2D7-65E8-840E-92EB5E002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284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5CD9622C-E326-9FEF-0DCE-CFB67075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>
            <a:extLst>
              <a:ext uri="{FF2B5EF4-FFF2-40B4-BE49-F238E27FC236}">
                <a16:creationId xmlns:a16="http://schemas.microsoft.com/office/drawing/2014/main" id="{6085F143-68E7-A851-5D67-F2CF1B0E1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:notes">
            <a:extLst>
              <a:ext uri="{FF2B5EF4-FFF2-40B4-BE49-F238E27FC236}">
                <a16:creationId xmlns:a16="http://schemas.microsoft.com/office/drawing/2014/main" id="{F4CAE9EA-31D9-F9F1-45D0-B677286243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7115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6BB2D9AB-A20B-E75A-EE46-DADBB494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>
            <a:extLst>
              <a:ext uri="{FF2B5EF4-FFF2-40B4-BE49-F238E27FC236}">
                <a16:creationId xmlns:a16="http://schemas.microsoft.com/office/drawing/2014/main" id="{62259E4B-7653-EF40-A4ED-C8BD5363D5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5:notes">
            <a:extLst>
              <a:ext uri="{FF2B5EF4-FFF2-40B4-BE49-F238E27FC236}">
                <a16:creationId xmlns:a16="http://schemas.microsoft.com/office/drawing/2014/main" id="{A5A876A6-EF87-F214-E2EF-F4EC344FF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7124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b96e8a236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b96e8a236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>
          <a:extLst>
            <a:ext uri="{FF2B5EF4-FFF2-40B4-BE49-F238E27FC236}">
              <a16:creationId xmlns:a16="http://schemas.microsoft.com/office/drawing/2014/main" id="{58F51A84-595A-DA53-4B16-A3D318B5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:notes">
            <a:extLst>
              <a:ext uri="{FF2B5EF4-FFF2-40B4-BE49-F238E27FC236}">
                <a16:creationId xmlns:a16="http://schemas.microsoft.com/office/drawing/2014/main" id="{7ED83A9B-178D-8A2A-BD8A-873DF33141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8:notes">
            <a:extLst>
              <a:ext uri="{FF2B5EF4-FFF2-40B4-BE49-F238E27FC236}">
                <a16:creationId xmlns:a16="http://schemas.microsoft.com/office/drawing/2014/main" id="{DD40DDE4-ED4F-657B-0C63-80DAD63FF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4383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96e8a236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b96e8a236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b96e8a236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b96e8a236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96e8a2366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b96e8a2366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1_제목 및 내용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8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/>
          </a:p>
        </p:txBody>
      </p:sp>
      <p:sp>
        <p:nvSpPr>
          <p:cNvPr id="84" name="Google Shape;84;p28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youtu.be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hyperlink" Target="https://youtu.be/NhJKzqVbwXo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7.png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26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17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17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17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11" Type="http://schemas.openxmlformats.org/officeDocument/2006/relationships/image" Target="../media/image2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4.png"/><Relationship Id="rId3" Type="http://schemas.openxmlformats.org/officeDocument/2006/relationships/image" Target="../media/image32.png"/><Relationship Id="rId7" Type="http://schemas.openxmlformats.org/officeDocument/2006/relationships/image" Target="../media/image41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11" Type="http://schemas.openxmlformats.org/officeDocument/2006/relationships/image" Target="../media/image2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8.png"/><Relationship Id="rId4" Type="http://schemas.openxmlformats.org/officeDocument/2006/relationships/image" Target="../media/image45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2.png"/><Relationship Id="rId7" Type="http://schemas.openxmlformats.org/officeDocument/2006/relationships/image" Target="../media/image48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11" Type="http://schemas.openxmlformats.org/officeDocument/2006/relationships/image" Target="../media/image20.png"/><Relationship Id="rId5" Type="http://schemas.openxmlformats.org/officeDocument/2006/relationships/image" Target="../media/image33.png"/><Relationship Id="rId10" Type="http://schemas.openxmlformats.org/officeDocument/2006/relationships/image" Target="../media/image39.png"/><Relationship Id="rId4" Type="http://schemas.openxmlformats.org/officeDocument/2006/relationships/image" Target="../media/image47.pn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2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11" Type="http://schemas.openxmlformats.org/officeDocument/2006/relationships/image" Target="../media/image20.png"/><Relationship Id="rId5" Type="http://schemas.openxmlformats.org/officeDocument/2006/relationships/image" Target="../media/image33.png"/><Relationship Id="rId10" Type="http://schemas.openxmlformats.org/officeDocument/2006/relationships/image" Target="../media/image39.png"/><Relationship Id="rId4" Type="http://schemas.openxmlformats.org/officeDocument/2006/relationships/image" Target="../media/image47.png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2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56.png"/><Relationship Id="rId5" Type="http://schemas.openxmlformats.org/officeDocument/2006/relationships/image" Target="../media/image39.png"/><Relationship Id="rId10" Type="http://schemas.openxmlformats.org/officeDocument/2006/relationships/image" Target="../media/image55.png"/><Relationship Id="rId4" Type="http://schemas.openxmlformats.org/officeDocument/2006/relationships/image" Target="../media/image33.png"/><Relationship Id="rId9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32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32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2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90" name="Google Shape;90;p1"/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name="adj1" fmla="val 8239"/>
                <a:gd name="adj2" fmla="val 0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49803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2" name="Google Shape;92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8282" y="4699746"/>
              <a:ext cx="513759" cy="5137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4" name="Google Shape;94;p1" descr="노트북, 컴퓨터, 의류, 사람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343" y="2852936"/>
            <a:ext cx="6272386" cy="381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32004" y="3739512"/>
            <a:ext cx="10477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(PPT 작성 시) 아래 경로에 등록된 </a:t>
            </a:r>
            <a:endParaRPr sz="2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작성가이드 2. 팀별 프로젝트 결과보고서]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영상을 참고하여 작성하세요!     </a:t>
            </a:r>
            <a:endParaRPr sz="24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7575" y="1114901"/>
            <a:ext cx="231912" cy="23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31472" y="5970452"/>
            <a:ext cx="106965" cy="10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0411" y="3333846"/>
            <a:ext cx="320555" cy="32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1657" y="3051749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35731" y="4683554"/>
            <a:ext cx="459767" cy="43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51618" y="692696"/>
            <a:ext cx="955324" cy="95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26450" y="2232252"/>
            <a:ext cx="361822" cy="361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9046026">
            <a:off x="10881716" y="4218190"/>
            <a:ext cx="1905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69497" y="5648116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>
            <a:hlinkClick r:id="rId15"/>
          </p:cNvPr>
          <p:cNvSpPr txBox="1"/>
          <p:nvPr/>
        </p:nvSpPr>
        <p:spPr>
          <a:xfrm>
            <a:off x="6493773" y="4703560"/>
            <a:ext cx="389606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i="0" u="sng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ko-KR" sz="2000" b="1" i="0" u="sng" strike="noStrike" cap="non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</a:t>
            </a:r>
            <a:r>
              <a:rPr lang="ko-KR" sz="1800" b="1" i="0" u="sng" strike="noStrike" cap="non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NhJKzqVbwXo</a:t>
            </a:r>
            <a:endParaRPr sz="2000" b="1" u="sng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* 링크를 따라가려면 &lt;ctrl&gt;키를 누른 채 클릭하세요.</a:t>
            </a:r>
            <a:endParaRPr sz="1050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0" u="none">
                <a:solidFill>
                  <a:srgbClr val="1A355C"/>
                </a:solidFill>
                <a:latin typeface="Arial"/>
                <a:ea typeface="Arial"/>
                <a:cs typeface="Arial"/>
                <a:sym typeface="Arial"/>
              </a:rPr>
              <a:t>PPT 작성 가이드 안내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r="12792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49729E"/>
                </a:solidFill>
                <a:latin typeface="Arial"/>
                <a:ea typeface="Arial"/>
                <a:cs typeface="Arial"/>
                <a:sym typeface="Arial"/>
              </a:rPr>
              <a:t>작성요령</a:t>
            </a: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117" name="Google Shape;117;p2"/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118" name="Google Shape;118;p2"/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  <a:gs pos="100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avLst/>
                <a:gdLst/>
                <a:ahLst/>
                <a:cxnLst/>
                <a:rect l="l" t="t" r="r" b="b"/>
                <a:pathLst>
                  <a:path w="733449" h="570685" extrusionOk="0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0" name="Google Shape;120;p2"/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작성요령</a:t>
              </a:r>
              <a:endParaRPr sz="20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122" name="Google Shape;122;p2"/>
            <p:cNvPicPr preferRelativeResize="0"/>
            <p:nvPr/>
          </p:nvPicPr>
          <p:blipFill rotWithShape="1">
            <a:blip r:embed="rId4">
              <a:alphaModFix amt="60000"/>
            </a:blip>
            <a:srcRect/>
            <a:stretch/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24" name="Google Shape;124;p2"/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125" name="Google Shape;125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6" name="Google Shape;126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endParaRPr/>
              </a:p>
            </p:txBody>
          </p:sp>
        </p:grpSp>
        <p:sp>
          <p:nvSpPr>
            <p:cNvPr id="127" name="Google Shape;127;p2"/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작성주체</a:t>
              </a:r>
              <a:endParaRPr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lang="ko-KR" sz="14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훈련생이 직접 작성하고, 훈련기관 담당자가 임의로 삭제 혹은 수정하지 않아야 함</a:t>
              </a:r>
              <a:endParaRPr sz="14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130" name="Google Shape;130;p2"/>
            <p:cNvPicPr preferRelativeResize="0"/>
            <p:nvPr/>
          </p:nvPicPr>
          <p:blipFill rotWithShape="1">
            <a:blip r:embed="rId4">
              <a:alphaModFix amt="60000"/>
            </a:blip>
            <a:srcRect/>
            <a:stretch/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2"/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32" name="Google Shape;132;p2"/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4" name="Google Shape;13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/>
              </a:p>
            </p:txBody>
          </p:sp>
        </p:grpSp>
        <p:sp>
          <p:nvSpPr>
            <p:cNvPr id="135" name="Google Shape;135;p2"/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제출형태</a:t>
              </a:r>
              <a:endParaRPr/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lang="ko-KR" sz="1400" b="1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팀별 프로젝트 결과보고서(PPT)는 팀별로 각각 작성하여 제출해야 함</a:t>
              </a:r>
              <a:endParaRPr sz="1400" b="1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단, 개별 진행된 경우 개별로 작성하여 제출</a:t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2802691" y="2095552"/>
              <a:ext cx="151043" cy="117601"/>
            </a:xfrm>
            <a:custGeom>
              <a:avLst/>
              <a:gdLst/>
              <a:ahLst/>
              <a:cxnLst/>
              <a:rect l="l" t="t" r="r" b="b"/>
              <a:pathLst>
                <a:path w="151043" h="117601" extrusionOk="0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140" name="Google Shape;140;p2"/>
            <p:cNvPicPr preferRelativeResize="0"/>
            <p:nvPr/>
          </p:nvPicPr>
          <p:blipFill rotWithShape="1">
            <a:blip r:embed="rId4">
              <a:alphaModFix amt="60000"/>
            </a:blip>
            <a:srcRect/>
            <a:stretch/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"/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42" name="Google Shape;142;p2"/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44" name="Google Shape;14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</a:t>
                </a:r>
                <a:endParaRPr/>
              </a:p>
            </p:txBody>
          </p:sp>
        </p:grpSp>
        <p:sp>
          <p:nvSpPr>
            <p:cNvPr id="145" name="Google Shape;145;p2"/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파 일 명</a:t>
              </a:r>
              <a:endParaRPr/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lang="ko-KR" sz="1400" b="1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결과보고서_팀명(팀주제명)</a:t>
              </a:r>
              <a:endParaRPr/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예) 결과보고서_1팀(OOO를 활용한 OOOO)</a:t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2802691" y="3756978"/>
              <a:ext cx="151043" cy="117601"/>
            </a:xfrm>
            <a:custGeom>
              <a:avLst/>
              <a:gdLst/>
              <a:ahLst/>
              <a:cxnLst/>
              <a:rect l="l" t="t" r="r" b="b"/>
              <a:pathLst>
                <a:path w="151043" h="117601" extrusionOk="0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9" name="Google Shape;149;p2"/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51" name="Google Shape;151;p2"/>
              <p:cNvPicPr preferRelativeResize="0"/>
              <p:nvPr/>
            </p:nvPicPr>
            <p:blipFill rotWithShape="1">
              <a:blip r:embed="rId4">
                <a:alphaModFix amt="60000"/>
              </a:blip>
              <a:srcRect/>
              <a:stretch/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" name="Google Shape;152;p2"/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name="adj" fmla="val 5120"/>
                </a:avLst>
              </a:prstGeom>
              <a:solidFill>
                <a:srgbClr val="3378C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53" name="Google Shape;153;p2"/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54" name="Google Shape;154;p2"/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55" name="Google Shape;155;p2"/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00">
                      <a:solidFill>
                        <a:srgbClr val="3378C8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4</a:t>
                  </a:r>
                  <a:endParaRPr/>
                </a:p>
              </p:txBody>
            </p:sp>
          </p:grpSp>
          <p:sp>
            <p:nvSpPr>
              <p:cNvPr id="156" name="Google Shape;156;p2"/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 b="1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구성내용</a:t>
                </a:r>
                <a:endParaRPr/>
              </a:p>
            </p:txBody>
          </p:sp>
        </p:grpSp>
        <p:sp>
          <p:nvSpPr>
            <p:cNvPr id="157" name="Google Shape;157;p2"/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lang="ko-KR" sz="14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제공된 목차 항목/구성/세부내용이 모두 포함되어야 하며, 페이지별 상세 안내 내용을 참고하여 작성</a:t>
              </a:r>
              <a:endParaRPr sz="14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8" name="Google Shape;158;p2"/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59" name="Google Shape;159;p2"/>
            <p:cNvPicPr preferRelativeResize="0"/>
            <p:nvPr/>
          </p:nvPicPr>
          <p:blipFill rotWithShape="1">
            <a:blip r:embed="rId4">
              <a:alphaModFix amt="60000"/>
            </a:blip>
            <a:srcRect/>
            <a:stretch/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"/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61" name="Google Shape;161;p2"/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62" name="Google Shape;162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63" name="Google Shape;163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</a:t>
                </a:r>
                <a:endParaRPr/>
              </a:p>
            </p:txBody>
          </p:sp>
        </p:grpSp>
        <p:sp>
          <p:nvSpPr>
            <p:cNvPr id="164" name="Google Shape;164;p2"/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 자 인</a:t>
              </a:r>
              <a:endParaRPr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lang="ko-KR" sz="1400" b="1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참고(예시) 디자인이므로 자유롭게 변경 가능, 기본폰트를 사용하지 않은 경우 PDF로 저장하여 제출</a:t>
              </a:r>
              <a:endParaRPr sz="1400" b="1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우수성 및 완성도를 잘 나타낼 수 있는 형태로 작성</a:t>
              </a:r>
              <a:endParaRPr sz="1200" b="1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802691" y="5801678"/>
              <a:ext cx="151043" cy="117601"/>
            </a:xfrm>
            <a:custGeom>
              <a:avLst/>
              <a:gdLst/>
              <a:ahLst/>
              <a:cxnLst/>
              <a:rect l="l" t="t" r="r" b="b"/>
              <a:pathLst>
                <a:path w="151043" h="117601" extrusionOk="0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저작권 문제로 유료 폰트는 사용 금지</a:t>
              </a: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802691" y="6049788"/>
              <a:ext cx="151043" cy="117601"/>
            </a:xfrm>
            <a:custGeom>
              <a:avLst/>
              <a:gdLst/>
              <a:ahLst/>
              <a:cxnLst/>
              <a:rect l="l" t="t" r="r" b="b"/>
              <a:pathLst>
                <a:path w="151043" h="117601" extrusionOk="0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70" name="Google Shape;17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999" y="6146170"/>
            <a:ext cx="516028" cy="724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646819">
            <a:off x="50218" y="5743137"/>
            <a:ext cx="3429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4">
            <a:alphaModFix/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3"/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180" name="Google Shape;180;p3"/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○○아카데미(훈련기관명)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 프로젝트명</a:t>
              </a:r>
              <a:br>
                <a:rPr lang="ko-KR" sz="4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4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(주제)</a:t>
              </a:r>
              <a:endParaRPr sz="40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2" name="Google Shape;182;p3"/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K-Digital Training</a:t>
            </a:r>
            <a:endParaRPr sz="1600" b="1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3" name="Google Shape;183;p3"/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184" name="Google Shape;184;p3" descr="EMB0000378c3f3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6" name="Google Shape;186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160030" y="3915155"/>
            <a:ext cx="7469973" cy="368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 rotWithShape="1">
          <a:blip r:embed="rId8">
            <a:alphaModFix/>
          </a:blip>
          <a:srcRect l="21662" t="1" b="17378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3"/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189" name="Google Shape;189;p3"/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/>
              <a:ahLst/>
              <a:cxnLst/>
              <a:rect l="l" t="t" r="r" b="b"/>
              <a:pathLst>
                <a:path w="1047217" h="1047469" extrusionOk="0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/>
              <a:ahLst/>
              <a:cxnLst/>
              <a:rect l="l" t="t" r="r" b="b"/>
              <a:pathLst>
                <a:path w="397819" h="397819" extrusionOk="0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91" name="Google Shape;191;p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28896" y="5508981"/>
            <a:ext cx="335776" cy="33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9990" y="5818556"/>
            <a:ext cx="321625" cy="32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3"/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194" name="Google Shape;194;p3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 rot="10800000" flipH="1">
              <a:off x="6768048" y="3882051"/>
              <a:ext cx="1663769" cy="704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3"/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TEAM 1조</a:t>
              </a:r>
              <a:r>
                <a:rPr lang="ko-KR" sz="24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어벤져스 (팀명)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김○○, 박○○, 이○○, 최○○, 정○○</a:t>
              </a:r>
              <a:endParaRPr sz="20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[멘토] ○○○</a:t>
              </a:r>
              <a:endParaRPr sz="20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338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4">
            <a:alphaModFix/>
          </a:blip>
          <a:srcRect r="27522" b="23907"/>
          <a:stretch/>
        </p:blipFill>
        <p:spPr>
          <a:xfrm rot="10800000" flipH="1">
            <a:off x="7546066" y="-1"/>
            <a:ext cx="4645934" cy="32966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4"/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204" name="Google Shape;204;p4"/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 차</a:t>
              </a:r>
              <a:endParaRPr/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8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06" name="Google Shape;206;p4"/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207" name="Google Shape;207;p4"/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/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200" b="1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4"/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210" name="Google Shape;210;p4"/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200" b="1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4"/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213" name="Google Shape;213;p4"/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200" b="1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4"/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16" name="Google Shape;216;p4"/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200" b="1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4"/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9" name="Google Shape;219;p4"/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220" name="Google Shape;220;p4"/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200" b="1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4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042684" y="42891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73038" y="1555170"/>
            <a:ext cx="233362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2700000">
            <a:off x="11933337" y="302760"/>
            <a:ext cx="343679" cy="343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4"/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26" name="Google Shape;226;p4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4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4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4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296588" y="1824462"/>
              <a:ext cx="320555" cy="304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989814FB-8291-913C-5439-42C5B70A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">
            <a:extLst>
              <a:ext uri="{FF2B5EF4-FFF2-40B4-BE49-F238E27FC236}">
                <a16:creationId xmlns:a16="http://schemas.microsoft.com/office/drawing/2014/main" id="{94B51993-FDFE-293F-D86C-8C3465EF42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>
            <a:extLst>
              <a:ext uri="{FF2B5EF4-FFF2-40B4-BE49-F238E27FC236}">
                <a16:creationId xmlns:a16="http://schemas.microsoft.com/office/drawing/2014/main" id="{2D06D559-8BA1-5F29-FC55-FCA7C9018116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1" name="Google Shape;241;p5">
            <a:extLst>
              <a:ext uri="{FF2B5EF4-FFF2-40B4-BE49-F238E27FC236}">
                <a16:creationId xmlns:a16="http://schemas.microsoft.com/office/drawing/2014/main" id="{D1CDEF8E-2263-D606-0662-787DAC6392AD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35805" y="1454515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5">
            <a:extLst>
              <a:ext uri="{FF2B5EF4-FFF2-40B4-BE49-F238E27FC236}">
                <a16:creationId xmlns:a16="http://schemas.microsoft.com/office/drawing/2014/main" id="{EDE40F41-141E-2093-3D85-E0EB1B95638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>
            <a:extLst>
              <a:ext uri="{FF2B5EF4-FFF2-40B4-BE49-F238E27FC236}">
                <a16:creationId xmlns:a16="http://schemas.microsoft.com/office/drawing/2014/main" id="{1655F656-8E38-F0E7-5800-B78A5AA1C38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5">
            <a:extLst>
              <a:ext uri="{FF2B5EF4-FFF2-40B4-BE49-F238E27FC236}">
                <a16:creationId xmlns:a16="http://schemas.microsoft.com/office/drawing/2014/main" id="{FD33D943-D1B3-8BBA-E519-CA2D2ABBC1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>
            <a:extLst>
              <a:ext uri="{FF2B5EF4-FFF2-40B4-BE49-F238E27FC236}">
                <a16:creationId xmlns:a16="http://schemas.microsoft.com/office/drawing/2014/main" id="{44EE550C-42A3-B1B3-8CA0-BF789072C8E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>
            <a:extLst>
              <a:ext uri="{FF2B5EF4-FFF2-40B4-BE49-F238E27FC236}">
                <a16:creationId xmlns:a16="http://schemas.microsoft.com/office/drawing/2014/main" id="{E43AAD2D-37CC-2296-4E8E-A8FF7506C04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">
            <a:extLst>
              <a:ext uri="{FF2B5EF4-FFF2-40B4-BE49-F238E27FC236}">
                <a16:creationId xmlns:a16="http://schemas.microsoft.com/office/drawing/2014/main" id="{6F8FC492-2889-CB54-3DFB-1FBCE983ABF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>
            <a:extLst>
              <a:ext uri="{FF2B5EF4-FFF2-40B4-BE49-F238E27FC236}">
                <a16:creationId xmlns:a16="http://schemas.microsoft.com/office/drawing/2014/main" id="{D0A9D879-41DF-2133-E92B-1C1B80F853F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>
            <a:extLst>
              <a:ext uri="{FF2B5EF4-FFF2-40B4-BE49-F238E27FC236}">
                <a16:creationId xmlns:a16="http://schemas.microsoft.com/office/drawing/2014/main" id="{7CB4D666-745E-3A72-5F78-ECD7D697F90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5934670"/>
            <a:ext cx="12192000" cy="9233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5">
            <a:extLst>
              <a:ext uri="{FF2B5EF4-FFF2-40B4-BE49-F238E27FC236}">
                <a16:creationId xmlns:a16="http://schemas.microsoft.com/office/drawing/2014/main" id="{3D1A7FF3-9B0E-3542-627A-F194EDAD0429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309" name="Google Shape;309;p5" descr="EMB0000378c3f3d">
              <a:extLst>
                <a:ext uri="{FF2B5EF4-FFF2-40B4-BE49-F238E27FC236}">
                  <a16:creationId xmlns:a16="http://schemas.microsoft.com/office/drawing/2014/main" id="{3998A7F6-BC10-2CDD-566D-B36851BDBCAC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5">
              <a:extLst>
                <a:ext uri="{FF2B5EF4-FFF2-40B4-BE49-F238E27FC236}">
                  <a16:creationId xmlns:a16="http://schemas.microsoft.com/office/drawing/2014/main" id="{B9A48BD9-5C36-53C2-5BC9-A1A44200F609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A0FEC69-9708-71A1-2B56-BD11E6D87AAC}"/>
              </a:ext>
            </a:extLst>
          </p:cNvPr>
          <p:cNvGrpSpPr/>
          <p:nvPr/>
        </p:nvGrpSpPr>
        <p:grpSpPr>
          <a:xfrm>
            <a:off x="376102" y="327212"/>
            <a:ext cx="6148279" cy="722127"/>
            <a:chOff x="376102" y="327212"/>
            <a:chExt cx="6148279" cy="722127"/>
          </a:xfrm>
        </p:grpSpPr>
        <p:grpSp>
          <p:nvGrpSpPr>
            <p:cNvPr id="237" name="Google Shape;237;p5">
              <a:extLst>
                <a:ext uri="{FF2B5EF4-FFF2-40B4-BE49-F238E27FC236}">
                  <a16:creationId xmlns:a16="http://schemas.microsoft.com/office/drawing/2014/main" id="{072EA833-91A3-D24A-2B0D-9E6D5E1919E5}"/>
                </a:ext>
              </a:extLst>
            </p:cNvPr>
            <p:cNvGrpSpPr/>
            <p:nvPr/>
          </p:nvGrpSpPr>
          <p:grpSpPr>
            <a:xfrm>
              <a:off x="376102" y="327212"/>
              <a:ext cx="6148279" cy="698528"/>
              <a:chOff x="376102" y="327212"/>
              <a:chExt cx="6148279" cy="698528"/>
            </a:xfrm>
          </p:grpSpPr>
          <p:sp>
            <p:nvSpPr>
              <p:cNvPr id="238" name="Google Shape;238;p5">
                <a:extLst>
                  <a:ext uri="{FF2B5EF4-FFF2-40B4-BE49-F238E27FC236}">
                    <a16:creationId xmlns:a16="http://schemas.microsoft.com/office/drawing/2014/main" id="{6E13DEA7-24C4-ECFD-3EA7-DDB5E568607B}"/>
                  </a:ext>
                </a:extLst>
              </p:cNvPr>
              <p:cNvSpPr txBox="1"/>
              <p:nvPr/>
            </p:nvSpPr>
            <p:spPr>
              <a:xfrm>
                <a:off x="1707893" y="327212"/>
                <a:ext cx="225221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 b="1" dirty="0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K-Digital </a:t>
                </a:r>
                <a:r>
                  <a:rPr lang="ko-KR" sz="1200" b="1" dirty="0" err="1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Training</a:t>
                </a:r>
                <a:endParaRPr sz="1200" b="1" dirty="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9" name="Google Shape;239;p5">
                <a:extLst>
                  <a:ext uri="{FF2B5EF4-FFF2-40B4-BE49-F238E27FC236}">
                    <a16:creationId xmlns:a16="http://schemas.microsoft.com/office/drawing/2014/main" id="{55395F95-91DE-B607-5DCD-78B9541BBC3F}"/>
                  </a:ext>
                </a:extLst>
              </p:cNvPr>
              <p:cNvSpPr txBox="1"/>
              <p:nvPr/>
            </p:nvSpPr>
            <p:spPr>
              <a:xfrm>
                <a:off x="1661502" y="592496"/>
                <a:ext cx="4862879" cy="400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000" b="1" dirty="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</a:t>
                </a:r>
                <a:r>
                  <a:rPr lang="ko-KR" altLang="en-US" sz="2000" b="1" dirty="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주제 및 기획의도</a:t>
                </a:r>
                <a:endParaRPr sz="2000" dirty="0"/>
              </a:p>
            </p:txBody>
          </p:sp>
          <p:sp>
            <p:nvSpPr>
              <p:cNvPr id="240" name="Google Shape;240;p5">
                <a:extLst>
                  <a:ext uri="{FF2B5EF4-FFF2-40B4-BE49-F238E27FC236}">
                    <a16:creationId xmlns:a16="http://schemas.microsoft.com/office/drawing/2014/main" id="{F1939764-2CB9-DE47-2FC2-7A1C9D84FD53}"/>
                  </a:ext>
                </a:extLst>
              </p:cNvPr>
              <p:cNvSpPr txBox="1"/>
              <p:nvPr/>
            </p:nvSpPr>
            <p:spPr>
              <a:xfrm>
                <a:off x="376102" y="333243"/>
                <a:ext cx="838923" cy="6924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0" rIns="91425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4500" dirty="0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4500" b="1" dirty="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50AF72D-E5AA-A11A-93A9-382F2C100FC7}"/>
                </a:ext>
              </a:extLst>
            </p:cNvPr>
            <p:cNvSpPr txBox="1"/>
            <p:nvPr/>
          </p:nvSpPr>
          <p:spPr>
            <a:xfrm>
              <a:off x="1036994" y="418397"/>
              <a:ext cx="708848" cy="630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500" dirty="0">
                  <a:solidFill>
                    <a:schemeClr val="accent1"/>
                  </a:solidFill>
                </a:rPr>
                <a:t>- 1</a:t>
              </a:r>
              <a:endParaRPr lang="ko-KR" altLang="en-US" sz="35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AF66806-1941-8504-E606-D3B237590F73}"/>
              </a:ext>
            </a:extLst>
          </p:cNvPr>
          <p:cNvSpPr/>
          <p:nvPr/>
        </p:nvSpPr>
        <p:spPr>
          <a:xfrm>
            <a:off x="598359" y="1950500"/>
            <a:ext cx="3361747" cy="3689127"/>
          </a:xfrm>
          <a:prstGeom prst="round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70E5C31-81B1-C7E3-F222-01809566C2A7}"/>
              </a:ext>
            </a:extLst>
          </p:cNvPr>
          <p:cNvSpPr/>
          <p:nvPr/>
        </p:nvSpPr>
        <p:spPr>
          <a:xfrm>
            <a:off x="4465271" y="1965504"/>
            <a:ext cx="3361747" cy="3689127"/>
          </a:xfrm>
          <a:prstGeom prst="round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158B5F0-1CAF-B933-0A65-BE0CCBA4A33E}"/>
              </a:ext>
            </a:extLst>
          </p:cNvPr>
          <p:cNvSpPr/>
          <p:nvPr/>
        </p:nvSpPr>
        <p:spPr>
          <a:xfrm>
            <a:off x="8332183" y="1950500"/>
            <a:ext cx="3361747" cy="3689127"/>
          </a:xfrm>
          <a:prstGeom prst="round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9ACB2D-2334-2150-EBD4-CE574B550E4A}"/>
              </a:ext>
            </a:extLst>
          </p:cNvPr>
          <p:cNvSpPr txBox="1"/>
          <p:nvPr/>
        </p:nvSpPr>
        <p:spPr>
          <a:xfrm>
            <a:off x="5240842" y="2657856"/>
            <a:ext cx="2048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OpenAPI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MVC </a:t>
            </a:r>
            <a:r>
              <a:rPr lang="ko-KR" altLang="en-US" dirty="0"/>
              <a:t>기반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7D8BA2-78DF-BACE-E197-6A9532F6867D}"/>
              </a:ext>
            </a:extLst>
          </p:cNvPr>
          <p:cNvSpPr txBox="1"/>
          <p:nvPr/>
        </p:nvSpPr>
        <p:spPr>
          <a:xfrm>
            <a:off x="5218666" y="3697774"/>
            <a:ext cx="1819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뮤지션 소속사 </a:t>
            </a:r>
            <a:r>
              <a:rPr lang="en-US" altLang="ko-KR" dirty="0"/>
              <a:t>&amp; </a:t>
            </a:r>
          </a:p>
          <a:p>
            <a:pPr algn="ctr"/>
            <a:r>
              <a:rPr lang="en-US" altLang="ko-KR" dirty="0"/>
              <a:t>MD </a:t>
            </a:r>
            <a:r>
              <a:rPr lang="ko-KR" altLang="en-US" dirty="0"/>
              <a:t>재고관리 플랫폼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51E74E-EC98-9DED-4E44-C2DDB2C3B5C2}"/>
              </a:ext>
            </a:extLst>
          </p:cNvPr>
          <p:cNvSpPr txBox="1"/>
          <p:nvPr/>
        </p:nvSpPr>
        <p:spPr>
          <a:xfrm>
            <a:off x="732302" y="2767910"/>
            <a:ext cx="1321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OpenAPI</a:t>
            </a:r>
            <a:r>
              <a:rPr lang="en-US" altLang="ko-KR" dirty="0"/>
              <a:t> </a:t>
            </a:r>
            <a:r>
              <a:rPr lang="ko-KR" altLang="en-US" dirty="0"/>
              <a:t>활용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5E4E6F-B4D3-8458-7419-A35982BF57C0}"/>
              </a:ext>
            </a:extLst>
          </p:cNvPr>
          <p:cNvSpPr txBox="1"/>
          <p:nvPr/>
        </p:nvSpPr>
        <p:spPr>
          <a:xfrm>
            <a:off x="2418211" y="2754970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뮤지션 정보 제공</a:t>
            </a:r>
          </a:p>
        </p:txBody>
      </p:sp>
      <p:sp>
        <p:nvSpPr>
          <p:cNvPr id="48" name="화살표: 갈매기형 수장 47">
            <a:extLst>
              <a:ext uri="{FF2B5EF4-FFF2-40B4-BE49-F238E27FC236}">
                <a16:creationId xmlns:a16="http://schemas.microsoft.com/office/drawing/2014/main" id="{0BF7A8BA-237F-EE66-7296-E27BC9F98504}"/>
              </a:ext>
            </a:extLst>
          </p:cNvPr>
          <p:cNvSpPr/>
          <p:nvPr/>
        </p:nvSpPr>
        <p:spPr>
          <a:xfrm>
            <a:off x="2050210" y="2798545"/>
            <a:ext cx="249884" cy="25516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A1776A5-7B57-DDC7-D5A2-D37C7966E59C}"/>
              </a:ext>
            </a:extLst>
          </p:cNvPr>
          <p:cNvSpPr txBox="1"/>
          <p:nvPr/>
        </p:nvSpPr>
        <p:spPr>
          <a:xfrm>
            <a:off x="858428" y="3566776"/>
            <a:ext cx="1061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MD </a:t>
            </a:r>
            <a:r>
              <a:rPr lang="ko-KR" altLang="en-US" dirty="0"/>
              <a:t>상품 </a:t>
            </a:r>
            <a:endParaRPr lang="en-US" altLang="ko-KR" dirty="0"/>
          </a:p>
          <a:p>
            <a:pPr algn="ctr"/>
            <a:r>
              <a:rPr lang="ko-KR" altLang="en-US" dirty="0"/>
              <a:t>주문 </a:t>
            </a:r>
            <a:r>
              <a:rPr lang="en-US" altLang="ko-KR" dirty="0"/>
              <a:t>· </a:t>
            </a:r>
            <a:r>
              <a:rPr lang="ko-KR" altLang="en-US" dirty="0"/>
              <a:t>재고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F1CC78-46B8-5655-2847-1BF07F8B5F92}"/>
              </a:ext>
            </a:extLst>
          </p:cNvPr>
          <p:cNvSpPr txBox="1"/>
          <p:nvPr/>
        </p:nvSpPr>
        <p:spPr>
          <a:xfrm>
            <a:off x="2323195" y="3651607"/>
            <a:ext cx="16706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트랜잭션으로 관리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48E454-51FE-B6CA-20DE-AC1E1C67588F}"/>
              </a:ext>
            </a:extLst>
          </p:cNvPr>
          <p:cNvSpPr txBox="1"/>
          <p:nvPr/>
        </p:nvSpPr>
        <p:spPr>
          <a:xfrm>
            <a:off x="8034789" y="2776144"/>
            <a:ext cx="4105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엔터테인먼트 플랫폼은</a:t>
            </a:r>
            <a:endParaRPr lang="en-US" altLang="ko-KR" dirty="0"/>
          </a:p>
          <a:p>
            <a:pPr algn="ctr"/>
            <a:r>
              <a:rPr lang="ko-KR" altLang="en-US" dirty="0"/>
              <a:t>콘텐츠</a:t>
            </a:r>
            <a:r>
              <a:rPr lang="en-US" altLang="ko-KR" dirty="0"/>
              <a:t>(</a:t>
            </a:r>
            <a:r>
              <a:rPr lang="ko-KR" altLang="en-US" dirty="0"/>
              <a:t>뮤지션 정보</a:t>
            </a:r>
            <a:r>
              <a:rPr lang="en-US" altLang="ko-KR" dirty="0"/>
              <a:t>) + </a:t>
            </a:r>
            <a:r>
              <a:rPr lang="ko-KR" altLang="en-US" dirty="0"/>
              <a:t>커머스</a:t>
            </a:r>
            <a:r>
              <a:rPr lang="en-US" altLang="ko-KR" dirty="0"/>
              <a:t>(MD</a:t>
            </a:r>
            <a:r>
              <a:rPr lang="ko-KR" altLang="en-US" dirty="0"/>
              <a:t> 판매</a:t>
            </a:r>
            <a:r>
              <a:rPr lang="en-US" altLang="ko-KR" dirty="0"/>
              <a:t>)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결합됨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7E8CA59-35D3-C0A5-9647-707BF77DD6BC}"/>
              </a:ext>
            </a:extLst>
          </p:cNvPr>
          <p:cNvSpPr txBox="1"/>
          <p:nvPr/>
        </p:nvSpPr>
        <p:spPr>
          <a:xfrm>
            <a:off x="8923654" y="3594407"/>
            <a:ext cx="2327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2. </a:t>
            </a:r>
            <a:r>
              <a:rPr lang="ko-KR" altLang="en-US" dirty="0"/>
              <a:t>기존 재고 관리 시스템은</a:t>
            </a:r>
            <a:endParaRPr lang="en-US" altLang="ko-KR" dirty="0"/>
          </a:p>
          <a:p>
            <a:pPr algn="ctr"/>
            <a:r>
              <a:rPr lang="ko-KR" altLang="en-US" dirty="0"/>
              <a:t>도메인 특화 기능 부족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0EACE2-BECD-91FC-F947-9EBD13F8FD47}"/>
              </a:ext>
            </a:extLst>
          </p:cNvPr>
          <p:cNvSpPr txBox="1"/>
          <p:nvPr/>
        </p:nvSpPr>
        <p:spPr>
          <a:xfrm>
            <a:off x="8785309" y="4397666"/>
            <a:ext cx="230864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3. </a:t>
            </a:r>
            <a:r>
              <a:rPr lang="en-US" altLang="ko-KR" dirty="0" err="1"/>
              <a:t>OpenAPI</a:t>
            </a:r>
            <a:r>
              <a:rPr lang="en-US" altLang="ko-KR" dirty="0"/>
              <a:t> </a:t>
            </a:r>
            <a:r>
              <a:rPr lang="ko-KR" altLang="en-US" dirty="0"/>
              <a:t>연동을 통해</a:t>
            </a:r>
            <a:endParaRPr lang="en-US" altLang="ko-KR" dirty="0"/>
          </a:p>
          <a:p>
            <a:pPr algn="ctr"/>
            <a:r>
              <a:rPr lang="ko-KR" altLang="en-US" dirty="0"/>
              <a:t>실시간 정보 제공이 가능한</a:t>
            </a:r>
            <a:endParaRPr lang="en-US" altLang="ko-KR" dirty="0"/>
          </a:p>
          <a:p>
            <a:pPr algn="ctr"/>
            <a:r>
              <a:rPr lang="ko-KR" altLang="en-US" dirty="0"/>
              <a:t>차별화된 관리 플랫폼 기획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3B21C253-42AF-9A41-3892-2638467F6251}"/>
              </a:ext>
            </a:extLst>
          </p:cNvPr>
          <p:cNvGrpSpPr/>
          <p:nvPr/>
        </p:nvGrpSpPr>
        <p:grpSpPr>
          <a:xfrm>
            <a:off x="1549961" y="1745408"/>
            <a:ext cx="1105611" cy="407890"/>
            <a:chOff x="-1597936" y="660623"/>
            <a:chExt cx="1105611" cy="407890"/>
          </a:xfrm>
        </p:grpSpPr>
        <p:sp>
          <p:nvSpPr>
            <p:cNvPr id="244" name="Google Shape;244;p5">
              <a:extLst>
                <a:ext uri="{FF2B5EF4-FFF2-40B4-BE49-F238E27FC236}">
                  <a16:creationId xmlns:a16="http://schemas.microsoft.com/office/drawing/2014/main" id="{F3C4A5C9-E272-E33B-A052-317149CCB699}"/>
                </a:ext>
              </a:extLst>
            </p:cNvPr>
            <p:cNvSpPr/>
            <p:nvPr/>
          </p:nvSpPr>
          <p:spPr>
            <a:xfrm>
              <a:off x="-1597936" y="779980"/>
              <a:ext cx="133940" cy="192355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B8F8A034-1265-F3D8-5F06-8C617051D959}"/>
                </a:ext>
              </a:extLst>
            </p:cNvPr>
            <p:cNvSpPr/>
            <p:nvPr/>
          </p:nvSpPr>
          <p:spPr>
            <a:xfrm>
              <a:off x="-1379124" y="660623"/>
              <a:ext cx="886799" cy="407890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>
                  <a:latin typeface="+mj-lt"/>
                </a:rPr>
                <a:t>주제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5AD73A1-4563-9A64-522F-17F9BBF6C678}"/>
              </a:ext>
            </a:extLst>
          </p:cNvPr>
          <p:cNvGrpSpPr/>
          <p:nvPr/>
        </p:nvGrpSpPr>
        <p:grpSpPr>
          <a:xfrm>
            <a:off x="5340786" y="1745408"/>
            <a:ext cx="1510427" cy="407890"/>
            <a:chOff x="-1610504" y="660623"/>
            <a:chExt cx="1510427" cy="407890"/>
          </a:xfrm>
        </p:grpSpPr>
        <p:sp>
          <p:nvSpPr>
            <p:cNvPr id="192" name="Google Shape;244;p5">
              <a:extLst>
                <a:ext uri="{FF2B5EF4-FFF2-40B4-BE49-F238E27FC236}">
                  <a16:creationId xmlns:a16="http://schemas.microsoft.com/office/drawing/2014/main" id="{396769FD-7301-D74F-248D-D613B59E86D8}"/>
                </a:ext>
              </a:extLst>
            </p:cNvPr>
            <p:cNvSpPr/>
            <p:nvPr/>
          </p:nvSpPr>
          <p:spPr>
            <a:xfrm>
              <a:off x="-1610504" y="752019"/>
              <a:ext cx="133940" cy="192355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3" name="사각형: 둥근 모서리 192">
              <a:extLst>
                <a:ext uri="{FF2B5EF4-FFF2-40B4-BE49-F238E27FC236}">
                  <a16:creationId xmlns:a16="http://schemas.microsoft.com/office/drawing/2014/main" id="{69BCC831-A981-0432-847B-60A70BD62E95}"/>
                </a:ext>
              </a:extLst>
            </p:cNvPr>
            <p:cNvSpPr/>
            <p:nvPr/>
          </p:nvSpPr>
          <p:spPr>
            <a:xfrm>
              <a:off x="-1379124" y="660623"/>
              <a:ext cx="1279047" cy="407890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>
                  <a:latin typeface="+mj-lt"/>
                </a:rPr>
                <a:t>프로젝트명</a:t>
              </a:r>
            </a:p>
          </p:txBody>
        </p:sp>
      </p:grp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48F5DFB9-1423-7067-3AA4-3112820E0AF3}"/>
              </a:ext>
            </a:extLst>
          </p:cNvPr>
          <p:cNvGrpSpPr/>
          <p:nvPr/>
        </p:nvGrpSpPr>
        <p:grpSpPr>
          <a:xfrm>
            <a:off x="9207698" y="1701356"/>
            <a:ext cx="1510427" cy="479511"/>
            <a:chOff x="-1610504" y="589002"/>
            <a:chExt cx="1510427" cy="479511"/>
          </a:xfrm>
        </p:grpSpPr>
        <p:sp>
          <p:nvSpPr>
            <p:cNvPr id="195" name="Google Shape;244;p5">
              <a:extLst>
                <a:ext uri="{FF2B5EF4-FFF2-40B4-BE49-F238E27FC236}">
                  <a16:creationId xmlns:a16="http://schemas.microsoft.com/office/drawing/2014/main" id="{2BBC45CA-D027-3F8B-1235-55C91FF07989}"/>
                </a:ext>
              </a:extLst>
            </p:cNvPr>
            <p:cNvSpPr/>
            <p:nvPr/>
          </p:nvSpPr>
          <p:spPr>
            <a:xfrm>
              <a:off x="-1610504" y="752019"/>
              <a:ext cx="133940" cy="192355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사각형: 둥근 모서리 195">
              <a:extLst>
                <a:ext uri="{FF2B5EF4-FFF2-40B4-BE49-F238E27FC236}">
                  <a16:creationId xmlns:a16="http://schemas.microsoft.com/office/drawing/2014/main" id="{94D5066E-264E-66F1-20D2-D842AA95E43D}"/>
                </a:ext>
              </a:extLst>
            </p:cNvPr>
            <p:cNvSpPr/>
            <p:nvPr/>
          </p:nvSpPr>
          <p:spPr>
            <a:xfrm>
              <a:off x="-1379124" y="589002"/>
              <a:ext cx="1279047" cy="479511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>
                  <a:latin typeface="+mj-lt"/>
                </a:rPr>
                <a:t>선정 배경 </a:t>
              </a:r>
              <a:r>
                <a:rPr lang="en-US" altLang="ko-KR" sz="1500" b="1" dirty="0">
                  <a:latin typeface="+mj-lt"/>
                </a:rPr>
                <a:t>&amp;</a:t>
              </a:r>
            </a:p>
            <a:p>
              <a:pPr algn="ctr"/>
              <a:r>
                <a:rPr lang="ko-KR" altLang="en-US" sz="1500" b="1" dirty="0">
                  <a:latin typeface="+mj-lt"/>
                </a:rPr>
                <a:t>기획의도</a:t>
              </a:r>
            </a:p>
          </p:txBody>
        </p:sp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86394652-8090-1772-2D42-8C24D7F80E22}"/>
              </a:ext>
            </a:extLst>
          </p:cNvPr>
          <p:cNvSpPr txBox="1"/>
          <p:nvPr/>
        </p:nvSpPr>
        <p:spPr>
          <a:xfrm>
            <a:off x="5240842" y="5790908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특화 포인트</a:t>
            </a:r>
            <a:endParaRPr lang="en-US" altLang="ko-KR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E5AB2CBB-0C63-921D-1F12-F50999EE5344}"/>
              </a:ext>
            </a:extLst>
          </p:cNvPr>
          <p:cNvSpPr txBox="1"/>
          <p:nvPr/>
        </p:nvSpPr>
        <p:spPr>
          <a:xfrm>
            <a:off x="2182951" y="6057596"/>
            <a:ext cx="72779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OpenAPI</a:t>
            </a:r>
            <a:r>
              <a:rPr lang="en-US" altLang="ko-KR" dirty="0"/>
              <a:t> </a:t>
            </a:r>
            <a:r>
              <a:rPr lang="ko-KR" altLang="en-US" dirty="0"/>
              <a:t>기반 콘텐츠 정보 제공 </a:t>
            </a:r>
            <a:r>
              <a:rPr lang="en-US" altLang="ko-KR" dirty="0"/>
              <a:t>+ </a:t>
            </a:r>
            <a:r>
              <a:rPr lang="ko-KR" altLang="en-US" dirty="0"/>
              <a:t>옵션형 </a:t>
            </a:r>
            <a:r>
              <a:rPr lang="en-US" altLang="ko-KR" dirty="0"/>
              <a:t>MD </a:t>
            </a:r>
            <a:r>
              <a:rPr lang="ko-KR" altLang="en-US" dirty="0"/>
              <a:t>재고를 트랜잭션으로 관리하는 통합 플랫폼</a:t>
            </a:r>
            <a:endParaRPr lang="en-US" altLang="ko-KR" dirty="0"/>
          </a:p>
        </p:txBody>
      </p:sp>
      <p:sp>
        <p:nvSpPr>
          <p:cNvPr id="200" name="화살표: 갈매기형 수장 199">
            <a:extLst>
              <a:ext uri="{FF2B5EF4-FFF2-40B4-BE49-F238E27FC236}">
                <a16:creationId xmlns:a16="http://schemas.microsoft.com/office/drawing/2014/main" id="{37FD1A5F-5FC5-7B05-09A0-8F47C169C090}"/>
              </a:ext>
            </a:extLst>
          </p:cNvPr>
          <p:cNvSpPr/>
          <p:nvPr/>
        </p:nvSpPr>
        <p:spPr>
          <a:xfrm>
            <a:off x="2050210" y="3674638"/>
            <a:ext cx="249884" cy="255166"/>
          </a:xfrm>
          <a:prstGeom prst="chevron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FE878FBA-70BF-861B-E61E-A42B1FDD1F63}"/>
              </a:ext>
            </a:extLst>
          </p:cNvPr>
          <p:cNvGrpSpPr/>
          <p:nvPr/>
        </p:nvGrpSpPr>
        <p:grpSpPr>
          <a:xfrm>
            <a:off x="1063568" y="4463506"/>
            <a:ext cx="2214068" cy="584655"/>
            <a:chOff x="1063568" y="4463506"/>
            <a:chExt cx="2214068" cy="584655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4956CFB-1139-705D-467F-EE755D7F39A5}"/>
                </a:ext>
              </a:extLst>
            </p:cNvPr>
            <p:cNvSpPr txBox="1"/>
            <p:nvPr/>
          </p:nvSpPr>
          <p:spPr>
            <a:xfrm>
              <a:off x="1063568" y="4463506"/>
              <a:ext cx="2214068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/>
                <a:t>MVC</a:t>
              </a:r>
              <a:r>
                <a:rPr lang="ko-KR" altLang="en-US" dirty="0"/>
                <a:t> 기반 </a:t>
              </a:r>
              <a:endParaRPr lang="en-US" altLang="ko-KR" dirty="0"/>
            </a:p>
            <a:p>
              <a:pPr algn="ctr"/>
              <a:r>
                <a:rPr lang="ko-KR" altLang="en-US" sz="1500" b="1" dirty="0">
                  <a:solidFill>
                    <a:srgbClr val="C00000"/>
                  </a:solidFill>
                </a:rPr>
                <a:t>엔터테인먼트 웹 플랫폼</a:t>
              </a:r>
            </a:p>
          </p:txBody>
        </p: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11E32BE6-A94F-BF3F-04A8-E0B0C8102A8C}"/>
                </a:ext>
              </a:extLst>
            </p:cNvPr>
            <p:cNvCxnSpPr>
              <a:cxnSpLocks/>
            </p:cNvCxnSpPr>
            <p:nvPr/>
          </p:nvCxnSpPr>
          <p:spPr>
            <a:xfrm>
              <a:off x="1128790" y="4997361"/>
              <a:ext cx="2059824" cy="0"/>
            </a:xfrm>
            <a:prstGeom prst="line">
              <a:avLst/>
            </a:prstGeom>
            <a:ln w="25400" cmpd="sng">
              <a:solidFill>
                <a:srgbClr val="C00000">
                  <a:alpha val="60000"/>
                </a:srgb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547C4429-E779-C095-91A7-070D3AAA76C0}"/>
                </a:ext>
              </a:extLst>
            </p:cNvPr>
            <p:cNvCxnSpPr>
              <a:cxnSpLocks/>
            </p:cNvCxnSpPr>
            <p:nvPr/>
          </p:nvCxnSpPr>
          <p:spPr>
            <a:xfrm>
              <a:off x="1128790" y="5048161"/>
              <a:ext cx="2059824" cy="0"/>
            </a:xfrm>
            <a:prstGeom prst="line">
              <a:avLst/>
            </a:prstGeom>
            <a:ln w="25400" cmpd="sng">
              <a:solidFill>
                <a:srgbClr val="C00000">
                  <a:alpha val="60000"/>
                </a:srgb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2653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F316CDD0-068C-82B9-E521-423A22A00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">
            <a:extLst>
              <a:ext uri="{FF2B5EF4-FFF2-40B4-BE49-F238E27FC236}">
                <a16:creationId xmlns:a16="http://schemas.microsoft.com/office/drawing/2014/main" id="{9FED65EC-F39D-203A-DCDC-825988A8B2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0900" y="-1553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>
            <a:extLst>
              <a:ext uri="{FF2B5EF4-FFF2-40B4-BE49-F238E27FC236}">
                <a16:creationId xmlns:a16="http://schemas.microsoft.com/office/drawing/2014/main" id="{9754D5CC-B4D5-23CF-CBCB-D292341C4377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1" name="Google Shape;241;p5">
            <a:extLst>
              <a:ext uri="{FF2B5EF4-FFF2-40B4-BE49-F238E27FC236}">
                <a16:creationId xmlns:a16="http://schemas.microsoft.com/office/drawing/2014/main" id="{09C4015F-9A94-F656-8E09-8D22B717B788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33613" y="1325152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5">
            <a:extLst>
              <a:ext uri="{FF2B5EF4-FFF2-40B4-BE49-F238E27FC236}">
                <a16:creationId xmlns:a16="http://schemas.microsoft.com/office/drawing/2014/main" id="{8E979754-4BDA-5F32-4D35-E462357FD7CC}"/>
              </a:ext>
            </a:extLst>
          </p:cNvPr>
          <p:cNvSpPr txBox="1"/>
          <p:nvPr/>
        </p:nvSpPr>
        <p:spPr>
          <a:xfrm>
            <a:off x="-14288" y="-28576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>
            <a:extLst>
              <a:ext uri="{FF2B5EF4-FFF2-40B4-BE49-F238E27FC236}">
                <a16:creationId xmlns:a16="http://schemas.microsoft.com/office/drawing/2014/main" id="{A129EB7F-7F1E-EB3F-7DC7-6C4B78D9F32D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5">
            <a:extLst>
              <a:ext uri="{FF2B5EF4-FFF2-40B4-BE49-F238E27FC236}">
                <a16:creationId xmlns:a16="http://schemas.microsoft.com/office/drawing/2014/main" id="{88B780E7-91AB-3430-2B3C-2E04711278A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>
            <a:extLst>
              <a:ext uri="{FF2B5EF4-FFF2-40B4-BE49-F238E27FC236}">
                <a16:creationId xmlns:a16="http://schemas.microsoft.com/office/drawing/2014/main" id="{4B600B3E-E131-9C7D-59FC-DCB7383F4B8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>
            <a:extLst>
              <a:ext uri="{FF2B5EF4-FFF2-40B4-BE49-F238E27FC236}">
                <a16:creationId xmlns:a16="http://schemas.microsoft.com/office/drawing/2014/main" id="{0B040958-2951-34A9-DC7F-BF0E7583077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48">
            <a:off x="386995" y="5543359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">
            <a:extLst>
              <a:ext uri="{FF2B5EF4-FFF2-40B4-BE49-F238E27FC236}">
                <a16:creationId xmlns:a16="http://schemas.microsoft.com/office/drawing/2014/main" id="{ECF1DAB0-B80A-9EEF-0544-00CC44C4EA5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44921"/>
          <a:stretch/>
        </p:blipFill>
        <p:spPr>
          <a:xfrm rot="10800000">
            <a:off x="11016343" y="5003213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>
            <a:extLst>
              <a:ext uri="{FF2B5EF4-FFF2-40B4-BE49-F238E27FC236}">
                <a16:creationId xmlns:a16="http://schemas.microsoft.com/office/drawing/2014/main" id="{F0337A46-37BA-B361-1988-FB110860E5F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361907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>
            <a:extLst>
              <a:ext uri="{FF2B5EF4-FFF2-40B4-BE49-F238E27FC236}">
                <a16:creationId xmlns:a16="http://schemas.microsoft.com/office/drawing/2014/main" id="{92EF22B4-9024-25A5-0985-EBE1A8AB125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6034686"/>
            <a:ext cx="12192000" cy="9233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5">
            <a:extLst>
              <a:ext uri="{FF2B5EF4-FFF2-40B4-BE49-F238E27FC236}">
                <a16:creationId xmlns:a16="http://schemas.microsoft.com/office/drawing/2014/main" id="{84C65035-48FB-ECED-8C36-8A689A694B81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309" name="Google Shape;309;p5" descr="EMB0000378c3f3d">
              <a:extLst>
                <a:ext uri="{FF2B5EF4-FFF2-40B4-BE49-F238E27FC236}">
                  <a16:creationId xmlns:a16="http://schemas.microsoft.com/office/drawing/2014/main" id="{D32A9D40-D133-5DB7-A6F3-00D94C3450DA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5">
              <a:extLst>
                <a:ext uri="{FF2B5EF4-FFF2-40B4-BE49-F238E27FC236}">
                  <a16:creationId xmlns:a16="http://schemas.microsoft.com/office/drawing/2014/main" id="{952FEFA4-7233-D020-AB37-2D44B06D04D3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00B5487-F626-47C6-C23A-95D4956E165D}"/>
              </a:ext>
            </a:extLst>
          </p:cNvPr>
          <p:cNvGrpSpPr/>
          <p:nvPr/>
        </p:nvGrpSpPr>
        <p:grpSpPr>
          <a:xfrm>
            <a:off x="376102" y="327212"/>
            <a:ext cx="6148279" cy="722127"/>
            <a:chOff x="376102" y="327212"/>
            <a:chExt cx="6148279" cy="722127"/>
          </a:xfrm>
        </p:grpSpPr>
        <p:grpSp>
          <p:nvGrpSpPr>
            <p:cNvPr id="237" name="Google Shape;237;p5">
              <a:extLst>
                <a:ext uri="{FF2B5EF4-FFF2-40B4-BE49-F238E27FC236}">
                  <a16:creationId xmlns:a16="http://schemas.microsoft.com/office/drawing/2014/main" id="{F9722762-C8BE-D0CE-6F8D-3B191772A782}"/>
                </a:ext>
              </a:extLst>
            </p:cNvPr>
            <p:cNvGrpSpPr/>
            <p:nvPr/>
          </p:nvGrpSpPr>
          <p:grpSpPr>
            <a:xfrm>
              <a:off x="376102" y="327212"/>
              <a:ext cx="6148279" cy="698528"/>
              <a:chOff x="376102" y="327212"/>
              <a:chExt cx="6148279" cy="698528"/>
            </a:xfrm>
          </p:grpSpPr>
          <p:sp>
            <p:nvSpPr>
              <p:cNvPr id="238" name="Google Shape;238;p5">
                <a:extLst>
                  <a:ext uri="{FF2B5EF4-FFF2-40B4-BE49-F238E27FC236}">
                    <a16:creationId xmlns:a16="http://schemas.microsoft.com/office/drawing/2014/main" id="{3E2FCE2B-1568-4B33-3475-A4DF842EF29C}"/>
                  </a:ext>
                </a:extLst>
              </p:cNvPr>
              <p:cNvSpPr txBox="1"/>
              <p:nvPr/>
            </p:nvSpPr>
            <p:spPr>
              <a:xfrm>
                <a:off x="1707893" y="327212"/>
                <a:ext cx="225221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 b="1" dirty="0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K-Digital </a:t>
                </a:r>
                <a:r>
                  <a:rPr lang="ko-KR" sz="1200" b="1" dirty="0" err="1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Training</a:t>
                </a:r>
                <a:endParaRPr sz="1200" b="1" dirty="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9" name="Google Shape;239;p5">
                <a:extLst>
                  <a:ext uri="{FF2B5EF4-FFF2-40B4-BE49-F238E27FC236}">
                    <a16:creationId xmlns:a16="http://schemas.microsoft.com/office/drawing/2014/main" id="{EBDDB551-B32A-0B8A-48E3-FF110169F2E9}"/>
                  </a:ext>
                </a:extLst>
              </p:cNvPr>
              <p:cNvSpPr txBox="1"/>
              <p:nvPr/>
            </p:nvSpPr>
            <p:spPr>
              <a:xfrm>
                <a:off x="1661502" y="592496"/>
                <a:ext cx="4862879" cy="400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000" b="1" dirty="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</a:t>
                </a:r>
                <a:r>
                  <a:rPr lang="ko-KR" altLang="en-US" sz="2000" b="1" dirty="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내용 및 활용장비</a:t>
                </a:r>
                <a:endParaRPr sz="2000" dirty="0"/>
              </a:p>
            </p:txBody>
          </p:sp>
          <p:sp>
            <p:nvSpPr>
              <p:cNvPr id="240" name="Google Shape;240;p5">
                <a:extLst>
                  <a:ext uri="{FF2B5EF4-FFF2-40B4-BE49-F238E27FC236}">
                    <a16:creationId xmlns:a16="http://schemas.microsoft.com/office/drawing/2014/main" id="{9512145A-819B-11FA-CA7F-64F6E9732851}"/>
                  </a:ext>
                </a:extLst>
              </p:cNvPr>
              <p:cNvSpPr txBox="1"/>
              <p:nvPr/>
            </p:nvSpPr>
            <p:spPr>
              <a:xfrm>
                <a:off x="376102" y="333243"/>
                <a:ext cx="838923" cy="6924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0" rIns="91425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4500" dirty="0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4500" b="1" dirty="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D6FB68-2653-A755-3199-6C41B1C0AA4E}"/>
                </a:ext>
              </a:extLst>
            </p:cNvPr>
            <p:cNvSpPr txBox="1"/>
            <p:nvPr/>
          </p:nvSpPr>
          <p:spPr>
            <a:xfrm>
              <a:off x="1036994" y="418397"/>
              <a:ext cx="708848" cy="630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500" dirty="0">
                  <a:solidFill>
                    <a:schemeClr val="accent1"/>
                  </a:solidFill>
                </a:rPr>
                <a:t>- 2</a:t>
              </a:r>
              <a:endParaRPr lang="ko-KR" altLang="en-US" sz="35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67B896D-48A5-4450-FDBD-8019ACA96382}"/>
              </a:ext>
            </a:extLst>
          </p:cNvPr>
          <p:cNvSpPr/>
          <p:nvPr/>
        </p:nvSpPr>
        <p:spPr>
          <a:xfrm>
            <a:off x="376102" y="1788111"/>
            <a:ext cx="5473056" cy="4751508"/>
          </a:xfrm>
          <a:prstGeom prst="round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63624-C6D8-979C-E708-0031226B0FB6}"/>
              </a:ext>
            </a:extLst>
          </p:cNvPr>
          <p:cNvSpPr txBox="1"/>
          <p:nvPr/>
        </p:nvSpPr>
        <p:spPr>
          <a:xfrm>
            <a:off x="935443" y="1913668"/>
            <a:ext cx="16530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사용자 </a:t>
            </a:r>
            <a:r>
              <a:rPr lang="en-US" altLang="ko-KR" b="1" dirty="0"/>
              <a:t>• </a:t>
            </a:r>
            <a:r>
              <a:rPr lang="ko-KR" altLang="en-US" b="1" dirty="0"/>
              <a:t>권한 관리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F1550-1487-A088-A831-8D3F83E78021}"/>
              </a:ext>
            </a:extLst>
          </p:cNvPr>
          <p:cNvSpPr txBox="1"/>
          <p:nvPr/>
        </p:nvSpPr>
        <p:spPr>
          <a:xfrm>
            <a:off x="3350686" y="1834347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OpenAPI</a:t>
            </a:r>
            <a:r>
              <a:rPr lang="en-US" altLang="ko-KR" b="1" dirty="0"/>
              <a:t> </a:t>
            </a:r>
            <a:r>
              <a:rPr lang="ko-KR" altLang="en-US" b="1" dirty="0"/>
              <a:t>연동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C96EA-0AB6-8086-A62F-FCA29C38C108}"/>
              </a:ext>
            </a:extLst>
          </p:cNvPr>
          <p:cNvSpPr txBox="1"/>
          <p:nvPr/>
        </p:nvSpPr>
        <p:spPr>
          <a:xfrm>
            <a:off x="863663" y="4261461"/>
            <a:ext cx="1132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게시판 기능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4F2E9-426F-F482-D2AF-0CFEF0A16671}"/>
              </a:ext>
            </a:extLst>
          </p:cNvPr>
          <p:cNvSpPr txBox="1"/>
          <p:nvPr/>
        </p:nvSpPr>
        <p:spPr>
          <a:xfrm>
            <a:off x="3310357" y="4242744"/>
            <a:ext cx="1811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MD</a:t>
            </a:r>
            <a:r>
              <a:rPr lang="ko-KR" altLang="en-US" b="1" dirty="0"/>
              <a:t>상품 </a:t>
            </a:r>
            <a:r>
              <a:rPr lang="en-US" altLang="ko-KR" b="1" dirty="0"/>
              <a:t>• </a:t>
            </a:r>
            <a:r>
              <a:rPr lang="ko-KR" altLang="en-US" b="1" dirty="0"/>
              <a:t>재고 관리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C6A91D1-CD18-3577-F717-E959BA582CB0}"/>
              </a:ext>
            </a:extLst>
          </p:cNvPr>
          <p:cNvCxnSpPr>
            <a:cxnSpLocks/>
            <a:stCxn id="2" idx="0"/>
            <a:endCxn id="2" idx="2"/>
          </p:cNvCxnSpPr>
          <p:nvPr/>
        </p:nvCxnSpPr>
        <p:spPr>
          <a:xfrm>
            <a:off x="3112630" y="1788111"/>
            <a:ext cx="0" cy="4751508"/>
          </a:xfrm>
          <a:prstGeom prst="line">
            <a:avLst/>
          </a:prstGeom>
          <a:ln>
            <a:solidFill>
              <a:srgbClr val="172C51">
                <a:alpha val="44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7DD4389-F0D6-E3AF-2CF3-733536715E42}"/>
              </a:ext>
            </a:extLst>
          </p:cNvPr>
          <p:cNvCxnSpPr>
            <a:cxnSpLocks/>
            <a:endCxn id="2" idx="3"/>
          </p:cNvCxnSpPr>
          <p:nvPr/>
        </p:nvCxnSpPr>
        <p:spPr>
          <a:xfrm>
            <a:off x="354766" y="4163865"/>
            <a:ext cx="5494392" cy="0"/>
          </a:xfrm>
          <a:prstGeom prst="line">
            <a:avLst/>
          </a:prstGeom>
          <a:ln>
            <a:solidFill>
              <a:srgbClr val="172C51">
                <a:alpha val="44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7DE7605-EDA8-A918-49AF-F042A45EB53A}"/>
              </a:ext>
            </a:extLst>
          </p:cNvPr>
          <p:cNvSpPr txBox="1"/>
          <p:nvPr/>
        </p:nvSpPr>
        <p:spPr>
          <a:xfrm>
            <a:off x="936545" y="2492503"/>
            <a:ext cx="177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Session</a:t>
            </a:r>
            <a:r>
              <a:rPr lang="ko-KR" altLang="en-US" dirty="0"/>
              <a:t>기반 로그인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4D31F7-B5CE-C5C2-5EDC-687A9C83881B}"/>
              </a:ext>
            </a:extLst>
          </p:cNvPr>
          <p:cNvSpPr txBox="1"/>
          <p:nvPr/>
        </p:nvSpPr>
        <p:spPr>
          <a:xfrm>
            <a:off x="634358" y="2904244"/>
            <a:ext cx="21996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ADMIN / ARTIST / USER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F4B023-0DFC-1A4F-D65E-5465FE19BE51}"/>
              </a:ext>
            </a:extLst>
          </p:cNvPr>
          <p:cNvSpPr txBox="1"/>
          <p:nvPr/>
        </p:nvSpPr>
        <p:spPr>
          <a:xfrm>
            <a:off x="618492" y="3332472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권한별 메뉴 및 기능 제어</a:t>
            </a:r>
            <a:endParaRPr lang="en-US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0964BB-7EAE-A670-2A37-0D5B3AB5C439}"/>
              </a:ext>
            </a:extLst>
          </p:cNvPr>
          <p:cNvSpPr txBox="1"/>
          <p:nvPr/>
        </p:nvSpPr>
        <p:spPr>
          <a:xfrm>
            <a:off x="3054377" y="2525811"/>
            <a:ext cx="2456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MusicBrainz</a:t>
            </a:r>
            <a:r>
              <a:rPr lang="en-US" altLang="ko-KR" dirty="0"/>
              <a:t> (</a:t>
            </a:r>
            <a:r>
              <a:rPr lang="ko-KR" altLang="en-US" dirty="0"/>
              <a:t>아티스트 정보</a:t>
            </a:r>
            <a:r>
              <a:rPr lang="en-US" altLang="ko-KR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14E0FA-31F7-9CC3-317D-9FC04C4AF7B7}"/>
              </a:ext>
            </a:extLst>
          </p:cNvPr>
          <p:cNvSpPr txBox="1"/>
          <p:nvPr/>
        </p:nvSpPr>
        <p:spPr>
          <a:xfrm>
            <a:off x="3054377" y="2863142"/>
            <a:ext cx="18469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YouTube (</a:t>
            </a:r>
            <a:r>
              <a:rPr lang="ko-KR" altLang="en-US" dirty="0"/>
              <a:t>홍보 영상</a:t>
            </a:r>
            <a:r>
              <a:rPr lang="en-US" altLang="ko-KR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572CDE-1EA2-E4B3-E9DD-C14C3402DBFA}"/>
              </a:ext>
            </a:extLst>
          </p:cNvPr>
          <p:cNvSpPr txBox="1"/>
          <p:nvPr/>
        </p:nvSpPr>
        <p:spPr>
          <a:xfrm>
            <a:off x="3063010" y="3360074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Toss Payments (</a:t>
            </a:r>
            <a:r>
              <a:rPr lang="ko-KR" altLang="en-US" dirty="0"/>
              <a:t>결제</a:t>
            </a:r>
            <a:r>
              <a:rPr lang="en-US" altLang="ko-KR" dirty="0"/>
              <a:t>UI)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9AFB9D-E198-92EC-A667-EE11080D3593}"/>
              </a:ext>
            </a:extLst>
          </p:cNvPr>
          <p:cNvSpPr txBox="1"/>
          <p:nvPr/>
        </p:nvSpPr>
        <p:spPr>
          <a:xfrm>
            <a:off x="405392" y="4672167"/>
            <a:ext cx="2468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ARTIST / USER </a:t>
            </a:r>
            <a:r>
              <a:rPr lang="ko-KR" altLang="en-US" dirty="0"/>
              <a:t>게시판 분리</a:t>
            </a:r>
            <a:endParaRPr lang="en-US" altLang="ko-KR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130889-320F-3ACF-DE81-99C536534070}"/>
              </a:ext>
            </a:extLst>
          </p:cNvPr>
          <p:cNvSpPr txBox="1"/>
          <p:nvPr/>
        </p:nvSpPr>
        <p:spPr>
          <a:xfrm>
            <a:off x="606070" y="5135313"/>
            <a:ext cx="1231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댓글 </a:t>
            </a:r>
            <a:r>
              <a:rPr lang="en-US" altLang="ko-KR" dirty="0"/>
              <a:t>/ </a:t>
            </a:r>
            <a:r>
              <a:rPr lang="ko-KR" altLang="en-US" dirty="0"/>
              <a:t>좋아요</a:t>
            </a:r>
            <a:endParaRPr lang="en-US" altLang="ko-K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5A48BF-D653-F0F5-6754-FF67BF313AC1}"/>
              </a:ext>
            </a:extLst>
          </p:cNvPr>
          <p:cNvSpPr txBox="1"/>
          <p:nvPr/>
        </p:nvSpPr>
        <p:spPr>
          <a:xfrm>
            <a:off x="395675" y="5625493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인기 게시글 조회</a:t>
            </a:r>
            <a:endParaRPr lang="en-US" altLang="ko-K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77F858-3B58-7C8B-735C-2BF73A529967}"/>
              </a:ext>
            </a:extLst>
          </p:cNvPr>
          <p:cNvSpPr txBox="1"/>
          <p:nvPr/>
        </p:nvSpPr>
        <p:spPr>
          <a:xfrm>
            <a:off x="3020697" y="4726120"/>
            <a:ext cx="1491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옵션별 재고관리</a:t>
            </a:r>
            <a:endParaRPr lang="en-US" altLang="ko-K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16D49B-FDFB-2C46-4150-035EDF24C2CF}"/>
              </a:ext>
            </a:extLst>
          </p:cNvPr>
          <p:cNvSpPr txBox="1"/>
          <p:nvPr/>
        </p:nvSpPr>
        <p:spPr>
          <a:xfrm>
            <a:off x="3064050" y="5135313"/>
            <a:ext cx="1770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주문</a:t>
            </a:r>
            <a:r>
              <a:rPr lang="en-US" altLang="ko-KR" dirty="0"/>
              <a:t>/</a:t>
            </a:r>
            <a:r>
              <a:rPr lang="ko-KR" altLang="en-US" dirty="0"/>
              <a:t>환불</a:t>
            </a:r>
            <a:r>
              <a:rPr lang="en-US" altLang="ko-KR" dirty="0"/>
              <a:t>/</a:t>
            </a:r>
            <a:r>
              <a:rPr lang="ko-KR" altLang="en-US" dirty="0"/>
              <a:t>장바구니 </a:t>
            </a:r>
            <a:endParaRPr lang="en-US" altLang="ko-KR" dirty="0"/>
          </a:p>
          <a:p>
            <a:r>
              <a:rPr lang="ko-KR" altLang="en-US" dirty="0"/>
              <a:t>재고 자동 반영</a:t>
            </a:r>
            <a:endParaRPr lang="en-US" altLang="ko-K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8F7F8F-CCF1-4BBC-0C73-C33977459D1F}"/>
              </a:ext>
            </a:extLst>
          </p:cNvPr>
          <p:cNvSpPr txBox="1"/>
          <p:nvPr/>
        </p:nvSpPr>
        <p:spPr>
          <a:xfrm>
            <a:off x="3073445" y="5676201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재고 로그 관리</a:t>
            </a:r>
            <a:endParaRPr lang="en-US" altLang="ko-KR" dirty="0"/>
          </a:p>
        </p:txBody>
      </p: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DECEBCEA-8FC8-1279-5178-EE621A48E502}"/>
              </a:ext>
            </a:extLst>
          </p:cNvPr>
          <p:cNvGrpSpPr/>
          <p:nvPr/>
        </p:nvGrpSpPr>
        <p:grpSpPr>
          <a:xfrm>
            <a:off x="6225260" y="1470148"/>
            <a:ext cx="5473056" cy="2668306"/>
            <a:chOff x="6225260" y="1700666"/>
            <a:chExt cx="5473056" cy="2668306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32843CE5-1C37-3771-0E93-F6C51B87352D}"/>
                </a:ext>
              </a:extLst>
            </p:cNvPr>
            <p:cNvSpPr/>
            <p:nvPr/>
          </p:nvSpPr>
          <p:spPr>
            <a:xfrm>
              <a:off x="6225260" y="1752590"/>
              <a:ext cx="5473056" cy="2616382"/>
            </a:xfrm>
            <a:prstGeom prst="roundRect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837D4A-D5F0-B8DA-61DF-3F8CDDB49305}"/>
                </a:ext>
              </a:extLst>
            </p:cNvPr>
            <p:cNvSpPr txBox="1"/>
            <p:nvPr/>
          </p:nvSpPr>
          <p:spPr>
            <a:xfrm>
              <a:off x="7254138" y="1720382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훈련내용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A60D1CB-0A45-A652-6785-55A66ECC5CF5}"/>
                </a:ext>
              </a:extLst>
            </p:cNvPr>
            <p:cNvSpPr txBox="1"/>
            <p:nvPr/>
          </p:nvSpPr>
          <p:spPr>
            <a:xfrm>
              <a:off x="9217501" y="1700666"/>
              <a:ext cx="13115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프로젝트 적용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C9C20C7-EE7C-E081-B64C-D69A1F473B53}"/>
                </a:ext>
              </a:extLst>
            </p:cNvPr>
            <p:cNvSpPr txBox="1"/>
            <p:nvPr/>
          </p:nvSpPr>
          <p:spPr>
            <a:xfrm>
              <a:off x="6904584" y="2197855"/>
              <a:ext cx="15600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Spring MVC </a:t>
              </a:r>
              <a:r>
                <a:rPr lang="ko-KR" altLang="en-US" dirty="0"/>
                <a:t>구조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AD2C74C-221E-2474-9907-CB553BCB0E6D}"/>
                </a:ext>
              </a:extLst>
            </p:cNvPr>
            <p:cNvSpPr txBox="1"/>
            <p:nvPr/>
          </p:nvSpPr>
          <p:spPr>
            <a:xfrm>
              <a:off x="8892291" y="2208739"/>
              <a:ext cx="26548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Controller / Service / DAO </a:t>
              </a:r>
              <a:r>
                <a:rPr lang="ko-KR" altLang="en-US" dirty="0"/>
                <a:t>분리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3C39575-47BA-8368-A63F-89921D18150F}"/>
                </a:ext>
              </a:extLst>
            </p:cNvPr>
            <p:cNvSpPr txBox="1"/>
            <p:nvPr/>
          </p:nvSpPr>
          <p:spPr>
            <a:xfrm>
              <a:off x="6860723" y="2593496"/>
              <a:ext cx="13917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DB </a:t>
              </a:r>
              <a:r>
                <a:rPr lang="ko-KR" altLang="en-US" dirty="0"/>
                <a:t>설계 </a:t>
              </a:r>
              <a:r>
                <a:rPr lang="en-US" altLang="ko-KR" dirty="0"/>
                <a:t>(ERD)</a:t>
              </a:r>
              <a:endParaRPr lang="ko-KR" altLang="en-US" dirty="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B26D185-EF45-5885-9A6C-64C3B1463A33}"/>
                </a:ext>
              </a:extLst>
            </p:cNvPr>
            <p:cNvSpPr txBox="1"/>
            <p:nvPr/>
          </p:nvSpPr>
          <p:spPr>
            <a:xfrm>
              <a:off x="8872818" y="2632926"/>
              <a:ext cx="25827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상품</a:t>
              </a:r>
              <a:r>
                <a:rPr lang="en-US" altLang="ko-KR" b="1" dirty="0"/>
                <a:t> • </a:t>
              </a:r>
              <a:r>
                <a:rPr lang="ko-KR" altLang="en-US" dirty="0"/>
                <a:t>주문</a:t>
              </a:r>
              <a:r>
                <a:rPr lang="en-US" altLang="ko-KR" b="1" dirty="0"/>
                <a:t> • </a:t>
              </a:r>
              <a:r>
                <a:rPr lang="ko-KR" altLang="en-US" dirty="0"/>
                <a:t>재고 테이블 설계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7D6FCD23-2A9F-95BE-B5B9-60331DA43D73}"/>
                </a:ext>
              </a:extLst>
            </p:cNvPr>
            <p:cNvSpPr txBox="1"/>
            <p:nvPr/>
          </p:nvSpPr>
          <p:spPr>
            <a:xfrm>
              <a:off x="6876226" y="2929012"/>
              <a:ext cx="9525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세션 관리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D4C0F412-A6FE-CE84-ACD0-D034E09DA187}"/>
                </a:ext>
              </a:extLst>
            </p:cNvPr>
            <p:cNvSpPr txBox="1"/>
            <p:nvPr/>
          </p:nvSpPr>
          <p:spPr>
            <a:xfrm>
              <a:off x="8851049" y="2959543"/>
              <a:ext cx="17700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로그인 및 권한 제어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EC71FBD0-1080-2B0E-9D2A-5685310C8D90}"/>
                </a:ext>
              </a:extLst>
            </p:cNvPr>
            <p:cNvSpPr txBox="1"/>
            <p:nvPr/>
          </p:nvSpPr>
          <p:spPr>
            <a:xfrm>
              <a:off x="6904584" y="3298790"/>
              <a:ext cx="1321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OpenAPI</a:t>
              </a:r>
              <a:r>
                <a:rPr lang="en-US" altLang="ko-KR" dirty="0"/>
                <a:t> </a:t>
              </a:r>
              <a:r>
                <a:rPr lang="ko-KR" altLang="en-US" dirty="0"/>
                <a:t>활용</a:t>
              </a: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732D9D2-AFAB-322B-F5B5-9DD5614DBB65}"/>
                </a:ext>
              </a:extLst>
            </p:cNvPr>
            <p:cNvSpPr txBox="1"/>
            <p:nvPr/>
          </p:nvSpPr>
          <p:spPr>
            <a:xfrm>
              <a:off x="8842546" y="3298790"/>
              <a:ext cx="17203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아티스트 정보 연동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957F7807-FFD9-779E-A20B-531BD122F2D6}"/>
                </a:ext>
              </a:extLst>
            </p:cNvPr>
            <p:cNvSpPr txBox="1"/>
            <p:nvPr/>
          </p:nvSpPr>
          <p:spPr>
            <a:xfrm>
              <a:off x="6835753" y="3682020"/>
              <a:ext cx="13115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트랜잭션 개념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CA913781-DC3C-10C2-8A97-405C966036F9}"/>
                </a:ext>
              </a:extLst>
            </p:cNvPr>
            <p:cNvSpPr txBox="1"/>
            <p:nvPr/>
          </p:nvSpPr>
          <p:spPr>
            <a:xfrm>
              <a:off x="8739055" y="3643473"/>
              <a:ext cx="18822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주문</a:t>
              </a:r>
              <a:r>
                <a:rPr lang="en-US" altLang="ko-KR" b="1" dirty="0"/>
                <a:t> • </a:t>
              </a:r>
              <a:r>
                <a:rPr lang="ko-KR" altLang="en-US" dirty="0"/>
                <a:t>환불</a:t>
              </a:r>
              <a:r>
                <a:rPr lang="en-US" altLang="ko-KR" b="1" dirty="0"/>
                <a:t> </a:t>
              </a:r>
              <a:r>
                <a:rPr lang="ko-KR" altLang="en-US" dirty="0"/>
                <a:t>재고 처리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EF1D105B-CFA8-84F7-8BFD-A60BC0D9740E}"/>
                </a:ext>
              </a:extLst>
            </p:cNvPr>
            <p:cNvSpPr txBox="1"/>
            <p:nvPr/>
          </p:nvSpPr>
          <p:spPr>
            <a:xfrm>
              <a:off x="6528693" y="3995098"/>
              <a:ext cx="47404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&gt;&gt; </a:t>
              </a:r>
              <a:r>
                <a:rPr lang="ko-KR" altLang="en-US" dirty="0"/>
                <a:t>훈련 과정에서 학습한 기술을 실제 서비스 구조에 적용</a:t>
              </a:r>
            </a:p>
          </p:txBody>
        </p:sp>
      </p:grpSp>
      <p:sp>
        <p:nvSpPr>
          <p:cNvPr id="217" name="TextBox 216">
            <a:extLst>
              <a:ext uri="{FF2B5EF4-FFF2-40B4-BE49-F238E27FC236}">
                <a16:creationId xmlns:a16="http://schemas.microsoft.com/office/drawing/2014/main" id="{B0D82208-678D-32BC-458C-ED210D1672DE}"/>
              </a:ext>
            </a:extLst>
          </p:cNvPr>
          <p:cNvSpPr txBox="1"/>
          <p:nvPr/>
        </p:nvSpPr>
        <p:spPr>
          <a:xfrm>
            <a:off x="6234740" y="4800701"/>
            <a:ext cx="1021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개발 언어 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b="1" dirty="0"/>
              <a:t>•  </a:t>
            </a:r>
            <a:r>
              <a:rPr lang="ko-KR" altLang="en-US" dirty="0"/>
              <a:t>☕</a:t>
            </a:r>
            <a:r>
              <a:rPr lang="en-US" altLang="ko-KR" dirty="0"/>
              <a:t>Java</a:t>
            </a:r>
            <a:endParaRPr lang="ko-KR" altLang="en-US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BE928C1-4493-D7E1-359A-31D6DF08E836}"/>
              </a:ext>
            </a:extLst>
          </p:cNvPr>
          <p:cNvSpPr txBox="1"/>
          <p:nvPr/>
        </p:nvSpPr>
        <p:spPr>
          <a:xfrm>
            <a:off x="7986067" y="5410832"/>
            <a:ext cx="194957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프레임워크 </a:t>
            </a:r>
            <a:r>
              <a:rPr lang="en-US" altLang="ko-KR" dirty="0"/>
              <a:t>/ </a:t>
            </a:r>
            <a:r>
              <a:rPr lang="ko-KR" altLang="en-US" dirty="0"/>
              <a:t>아키텍처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b="1" dirty="0"/>
              <a:t>•  </a:t>
            </a:r>
            <a:r>
              <a:rPr lang="ko-KR" altLang="en-US" dirty="0"/>
              <a:t>🍃</a:t>
            </a:r>
            <a:r>
              <a:rPr lang="en-US" altLang="ko-KR" dirty="0"/>
              <a:t>Spring Boot</a:t>
            </a:r>
          </a:p>
          <a:p>
            <a:r>
              <a:rPr lang="ko-KR" altLang="en-US" dirty="0"/>
              <a:t> </a:t>
            </a:r>
            <a:r>
              <a:rPr lang="en-US" altLang="ko-KR" b="1" dirty="0"/>
              <a:t>• </a:t>
            </a:r>
            <a:r>
              <a:rPr lang="en-US" altLang="ko-KR" dirty="0"/>
              <a:t> </a:t>
            </a:r>
            <a:r>
              <a:rPr lang="ko-KR" altLang="en-US" dirty="0"/>
              <a:t>🧩</a:t>
            </a:r>
            <a:r>
              <a:rPr lang="en-US" altLang="ko-KR" dirty="0"/>
              <a:t>MVC </a:t>
            </a:r>
            <a:r>
              <a:rPr lang="ko-KR" altLang="en-US" dirty="0"/>
              <a:t>패턴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E096A02-CE40-DDAC-E220-7E33720F4E65}"/>
              </a:ext>
            </a:extLst>
          </p:cNvPr>
          <p:cNvSpPr txBox="1"/>
          <p:nvPr/>
        </p:nvSpPr>
        <p:spPr>
          <a:xfrm>
            <a:off x="7986067" y="4766489"/>
            <a:ext cx="24705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데이터베이스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b="1" dirty="0"/>
              <a:t>•  </a:t>
            </a:r>
            <a:r>
              <a:rPr lang="ko-KR" altLang="en-US" dirty="0"/>
              <a:t>🗄 </a:t>
            </a:r>
            <a:r>
              <a:rPr lang="en-US" altLang="ko-KR" dirty="0"/>
              <a:t>Oracle Database (SQL)</a:t>
            </a:r>
            <a:endParaRPr lang="ko-KR" altLang="en-US" dirty="0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4ADD17D-9592-005F-E900-6F93CC729CF4}"/>
              </a:ext>
            </a:extLst>
          </p:cNvPr>
          <p:cNvSpPr txBox="1"/>
          <p:nvPr/>
        </p:nvSpPr>
        <p:spPr>
          <a:xfrm>
            <a:off x="10258848" y="4737376"/>
            <a:ext cx="1358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ORM / Mapper</a:t>
            </a:r>
          </a:p>
          <a:p>
            <a:r>
              <a:rPr lang="en-US" altLang="ko-KR" dirty="0"/>
              <a:t> </a:t>
            </a:r>
            <a:r>
              <a:rPr lang="en-US" altLang="ko-KR" b="1" dirty="0"/>
              <a:t>•  </a:t>
            </a:r>
            <a:r>
              <a:rPr lang="en-US" altLang="ko-KR" dirty="0" err="1"/>
              <a:t>MyBatis</a:t>
            </a:r>
            <a:endParaRPr lang="ko-KR" altLang="en-US" dirty="0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FD45684-95B0-22A5-E07A-46448F4B52D7}"/>
              </a:ext>
            </a:extLst>
          </p:cNvPr>
          <p:cNvSpPr txBox="1"/>
          <p:nvPr/>
        </p:nvSpPr>
        <p:spPr>
          <a:xfrm>
            <a:off x="6184000" y="5479207"/>
            <a:ext cx="1999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인증 방식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b="1" dirty="0"/>
              <a:t>•  </a:t>
            </a:r>
            <a:r>
              <a:rPr lang="ko-KR" altLang="en-US" dirty="0"/>
              <a:t>🔐세션 기반 로그인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951091A5-F63F-A861-B683-569CAFA5228F}"/>
              </a:ext>
            </a:extLst>
          </p:cNvPr>
          <p:cNvSpPr txBox="1"/>
          <p:nvPr/>
        </p:nvSpPr>
        <p:spPr>
          <a:xfrm>
            <a:off x="9743043" y="576549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개발 도구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b="1" dirty="0"/>
              <a:t>•  </a:t>
            </a:r>
            <a:r>
              <a:rPr lang="ko-KR" altLang="en-US" dirty="0"/>
              <a:t>💡</a:t>
            </a:r>
            <a:r>
              <a:rPr lang="en-US" altLang="ko-KR" dirty="0"/>
              <a:t>IntelliJ IDEA</a:t>
            </a:r>
            <a:endParaRPr lang="ko-KR" altLang="en-US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F3BA254-8475-D0B9-A881-EF361DDA3994}"/>
              </a:ext>
            </a:extLst>
          </p:cNvPr>
          <p:cNvSpPr txBox="1"/>
          <p:nvPr/>
        </p:nvSpPr>
        <p:spPr>
          <a:xfrm>
            <a:off x="10240598" y="5289709"/>
            <a:ext cx="1579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형상 관리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b="1" dirty="0"/>
              <a:t>•  </a:t>
            </a:r>
            <a:r>
              <a:rPr lang="ko-KR" altLang="en-US" dirty="0"/>
              <a:t>🐙</a:t>
            </a:r>
            <a:r>
              <a:rPr lang="en-US" altLang="ko-KR" dirty="0"/>
              <a:t>Git / GitHub</a:t>
            </a:r>
            <a:endParaRPr lang="ko-KR" altLang="en-US" dirty="0"/>
          </a:p>
        </p:txBody>
      </p:sp>
      <p:sp>
        <p:nvSpPr>
          <p:cNvPr id="226" name="사각형: 둥근 모서리 225">
            <a:extLst>
              <a:ext uri="{FF2B5EF4-FFF2-40B4-BE49-F238E27FC236}">
                <a16:creationId xmlns:a16="http://schemas.microsoft.com/office/drawing/2014/main" id="{163C8D03-8B19-E71F-D888-A692BE5222DD}"/>
              </a:ext>
            </a:extLst>
          </p:cNvPr>
          <p:cNvSpPr/>
          <p:nvPr/>
        </p:nvSpPr>
        <p:spPr>
          <a:xfrm>
            <a:off x="6193839" y="4500809"/>
            <a:ext cx="5473056" cy="2011437"/>
          </a:xfrm>
          <a:prstGeom prst="round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23600187-87E7-B3B7-1DD4-2EEA27B16B34}"/>
              </a:ext>
            </a:extLst>
          </p:cNvPr>
          <p:cNvGrpSpPr/>
          <p:nvPr/>
        </p:nvGrpSpPr>
        <p:grpSpPr>
          <a:xfrm>
            <a:off x="7648248" y="4324553"/>
            <a:ext cx="2225042" cy="323299"/>
            <a:chOff x="-1597936" y="660623"/>
            <a:chExt cx="2225042" cy="407890"/>
          </a:xfrm>
        </p:grpSpPr>
        <p:sp>
          <p:nvSpPr>
            <p:cNvPr id="233" name="Google Shape;244;p5">
              <a:extLst>
                <a:ext uri="{FF2B5EF4-FFF2-40B4-BE49-F238E27FC236}">
                  <a16:creationId xmlns:a16="http://schemas.microsoft.com/office/drawing/2014/main" id="{42F32AF3-A2A4-8AB0-F9F2-FB25813E5023}"/>
                </a:ext>
              </a:extLst>
            </p:cNvPr>
            <p:cNvSpPr/>
            <p:nvPr/>
          </p:nvSpPr>
          <p:spPr>
            <a:xfrm>
              <a:off x="-1597936" y="779980"/>
              <a:ext cx="133940" cy="192355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4" name="사각형: 둥근 모서리 233">
              <a:extLst>
                <a:ext uri="{FF2B5EF4-FFF2-40B4-BE49-F238E27FC236}">
                  <a16:creationId xmlns:a16="http://schemas.microsoft.com/office/drawing/2014/main" id="{19886EAE-4A29-85B6-A55B-7994AA44C5E0}"/>
                </a:ext>
              </a:extLst>
            </p:cNvPr>
            <p:cNvSpPr/>
            <p:nvPr/>
          </p:nvSpPr>
          <p:spPr>
            <a:xfrm>
              <a:off x="-1379124" y="660623"/>
              <a:ext cx="2006230" cy="407890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>
                  <a:latin typeface="+mj-lt"/>
                </a:rPr>
                <a:t>활용장비 </a:t>
              </a:r>
              <a:r>
                <a:rPr lang="en-US" altLang="ko-KR" sz="1500" b="1" dirty="0">
                  <a:latin typeface="+mj-lt"/>
                </a:rPr>
                <a:t>&amp; </a:t>
              </a:r>
              <a:r>
                <a:rPr lang="ko-KR" altLang="en-US" sz="1500" b="1" dirty="0">
                  <a:latin typeface="+mj-lt"/>
                </a:rPr>
                <a:t>개발환경</a:t>
              </a:r>
            </a:p>
          </p:txBody>
        </p:sp>
      </p:grp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549F2215-1BC5-3D22-00AA-1C45D9ABAB4B}"/>
              </a:ext>
            </a:extLst>
          </p:cNvPr>
          <p:cNvGrpSpPr/>
          <p:nvPr/>
        </p:nvGrpSpPr>
        <p:grpSpPr>
          <a:xfrm>
            <a:off x="2009674" y="1391996"/>
            <a:ext cx="1988848" cy="323299"/>
            <a:chOff x="-1597936" y="660623"/>
            <a:chExt cx="1988848" cy="407890"/>
          </a:xfrm>
        </p:grpSpPr>
        <p:sp>
          <p:nvSpPr>
            <p:cNvPr id="243" name="Google Shape;244;p5">
              <a:extLst>
                <a:ext uri="{FF2B5EF4-FFF2-40B4-BE49-F238E27FC236}">
                  <a16:creationId xmlns:a16="http://schemas.microsoft.com/office/drawing/2014/main" id="{F47737CC-3B47-6470-F8CC-DF61C601BA96}"/>
                </a:ext>
              </a:extLst>
            </p:cNvPr>
            <p:cNvSpPr/>
            <p:nvPr/>
          </p:nvSpPr>
          <p:spPr>
            <a:xfrm>
              <a:off x="-1597936" y="779980"/>
              <a:ext cx="133940" cy="192355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9" name="사각형: 둥근 모서리 248">
              <a:extLst>
                <a:ext uri="{FF2B5EF4-FFF2-40B4-BE49-F238E27FC236}">
                  <a16:creationId xmlns:a16="http://schemas.microsoft.com/office/drawing/2014/main" id="{DE3C3063-46AF-BA47-72E4-9976F8C0481B}"/>
                </a:ext>
              </a:extLst>
            </p:cNvPr>
            <p:cNvSpPr/>
            <p:nvPr/>
          </p:nvSpPr>
          <p:spPr>
            <a:xfrm>
              <a:off x="-1379124" y="660623"/>
              <a:ext cx="1770036" cy="407890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>
                  <a:latin typeface="+mj-lt"/>
                </a:rPr>
                <a:t>주요 기능 구현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9806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04924A59-7F61-4C2B-1BFC-427468BC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">
            <a:extLst>
              <a:ext uri="{FF2B5EF4-FFF2-40B4-BE49-F238E27FC236}">
                <a16:creationId xmlns:a16="http://schemas.microsoft.com/office/drawing/2014/main" id="{6F31A82A-2F15-0C09-3CE7-B3CCC0D088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>
            <a:extLst>
              <a:ext uri="{FF2B5EF4-FFF2-40B4-BE49-F238E27FC236}">
                <a16:creationId xmlns:a16="http://schemas.microsoft.com/office/drawing/2014/main" id="{B6DFA769-C755-FC63-1B81-96FAD848791A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1" name="Google Shape;241;p5">
            <a:extLst>
              <a:ext uri="{FF2B5EF4-FFF2-40B4-BE49-F238E27FC236}">
                <a16:creationId xmlns:a16="http://schemas.microsoft.com/office/drawing/2014/main" id="{D5F5B19F-4A29-376F-F9EA-7FAF757BCD47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35805" y="1454515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5">
            <a:extLst>
              <a:ext uri="{FF2B5EF4-FFF2-40B4-BE49-F238E27FC236}">
                <a16:creationId xmlns:a16="http://schemas.microsoft.com/office/drawing/2014/main" id="{3F648FDB-0EFD-586D-949C-EF821C07D84E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>
            <a:extLst>
              <a:ext uri="{FF2B5EF4-FFF2-40B4-BE49-F238E27FC236}">
                <a16:creationId xmlns:a16="http://schemas.microsoft.com/office/drawing/2014/main" id="{886B38B0-A771-E125-C315-8608CD13E2A6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5">
            <a:extLst>
              <a:ext uri="{FF2B5EF4-FFF2-40B4-BE49-F238E27FC236}">
                <a16:creationId xmlns:a16="http://schemas.microsoft.com/office/drawing/2014/main" id="{4EDAE558-D351-47D9-D00A-F3930EA6679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>
            <a:extLst>
              <a:ext uri="{FF2B5EF4-FFF2-40B4-BE49-F238E27FC236}">
                <a16:creationId xmlns:a16="http://schemas.microsoft.com/office/drawing/2014/main" id="{F04E60C8-D08B-E536-BA79-D8FEF043557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>
            <a:extLst>
              <a:ext uri="{FF2B5EF4-FFF2-40B4-BE49-F238E27FC236}">
                <a16:creationId xmlns:a16="http://schemas.microsoft.com/office/drawing/2014/main" id="{93D5AB3A-B01D-311F-867A-92E6053ECAE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">
            <a:extLst>
              <a:ext uri="{FF2B5EF4-FFF2-40B4-BE49-F238E27FC236}">
                <a16:creationId xmlns:a16="http://schemas.microsoft.com/office/drawing/2014/main" id="{45E2EE4E-6B9E-EDBD-4A72-96B8B45221A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>
            <a:extLst>
              <a:ext uri="{FF2B5EF4-FFF2-40B4-BE49-F238E27FC236}">
                <a16:creationId xmlns:a16="http://schemas.microsoft.com/office/drawing/2014/main" id="{66ABCB86-A07E-6D88-46DD-433A583F24A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>
            <a:extLst>
              <a:ext uri="{FF2B5EF4-FFF2-40B4-BE49-F238E27FC236}">
                <a16:creationId xmlns:a16="http://schemas.microsoft.com/office/drawing/2014/main" id="{3E2561B2-8286-CCBD-B717-A6EB0D8210E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5934670"/>
            <a:ext cx="12192000" cy="9233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5">
            <a:extLst>
              <a:ext uri="{FF2B5EF4-FFF2-40B4-BE49-F238E27FC236}">
                <a16:creationId xmlns:a16="http://schemas.microsoft.com/office/drawing/2014/main" id="{AD9AC96D-B33D-1E03-D379-F783227030C9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309" name="Google Shape;309;p5" descr="EMB0000378c3f3d">
              <a:extLst>
                <a:ext uri="{FF2B5EF4-FFF2-40B4-BE49-F238E27FC236}">
                  <a16:creationId xmlns:a16="http://schemas.microsoft.com/office/drawing/2014/main" id="{C00672EA-21AB-9BFA-1ACE-6574177FF357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5">
              <a:extLst>
                <a:ext uri="{FF2B5EF4-FFF2-40B4-BE49-F238E27FC236}">
                  <a16:creationId xmlns:a16="http://schemas.microsoft.com/office/drawing/2014/main" id="{43EEAAD7-7459-B2D7-9741-EC36E16810AE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4FB7B5A4-284B-CA78-3BB2-61584BC7F3CF}"/>
              </a:ext>
            </a:extLst>
          </p:cNvPr>
          <p:cNvGrpSpPr/>
          <p:nvPr/>
        </p:nvGrpSpPr>
        <p:grpSpPr>
          <a:xfrm>
            <a:off x="376102" y="327212"/>
            <a:ext cx="6148279" cy="722127"/>
            <a:chOff x="376102" y="327212"/>
            <a:chExt cx="6148279" cy="722127"/>
          </a:xfrm>
        </p:grpSpPr>
        <p:grpSp>
          <p:nvGrpSpPr>
            <p:cNvPr id="237" name="Google Shape;237;p5">
              <a:extLst>
                <a:ext uri="{FF2B5EF4-FFF2-40B4-BE49-F238E27FC236}">
                  <a16:creationId xmlns:a16="http://schemas.microsoft.com/office/drawing/2014/main" id="{57993DBC-F35F-38F5-2AB6-5D998666FA8F}"/>
                </a:ext>
              </a:extLst>
            </p:cNvPr>
            <p:cNvGrpSpPr/>
            <p:nvPr/>
          </p:nvGrpSpPr>
          <p:grpSpPr>
            <a:xfrm>
              <a:off x="376102" y="327212"/>
              <a:ext cx="6148279" cy="698528"/>
              <a:chOff x="376102" y="327212"/>
              <a:chExt cx="6148279" cy="698528"/>
            </a:xfrm>
          </p:grpSpPr>
          <p:sp>
            <p:nvSpPr>
              <p:cNvPr id="238" name="Google Shape;238;p5">
                <a:extLst>
                  <a:ext uri="{FF2B5EF4-FFF2-40B4-BE49-F238E27FC236}">
                    <a16:creationId xmlns:a16="http://schemas.microsoft.com/office/drawing/2014/main" id="{30E4FA54-836B-5A59-FAE6-C9AAD8D68478}"/>
                  </a:ext>
                </a:extLst>
              </p:cNvPr>
              <p:cNvSpPr txBox="1"/>
              <p:nvPr/>
            </p:nvSpPr>
            <p:spPr>
              <a:xfrm>
                <a:off x="1707893" y="327212"/>
                <a:ext cx="225221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 b="1" dirty="0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K-Digital </a:t>
                </a:r>
                <a:r>
                  <a:rPr lang="ko-KR" sz="1200" b="1" dirty="0" err="1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Training</a:t>
                </a:r>
                <a:endParaRPr sz="1200" b="1" dirty="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9" name="Google Shape;239;p5">
                <a:extLst>
                  <a:ext uri="{FF2B5EF4-FFF2-40B4-BE49-F238E27FC236}">
                    <a16:creationId xmlns:a16="http://schemas.microsoft.com/office/drawing/2014/main" id="{43974793-5FCE-DD34-0E6D-541EA54B2E8F}"/>
                  </a:ext>
                </a:extLst>
              </p:cNvPr>
              <p:cNvSpPr txBox="1"/>
              <p:nvPr/>
            </p:nvSpPr>
            <p:spPr>
              <a:xfrm>
                <a:off x="1661502" y="592496"/>
                <a:ext cx="4862879" cy="400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/>
                <a:r>
                  <a:rPr lang="ko-KR" altLang="en-US" sz="2000" b="1" dirty="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구조</a:t>
                </a:r>
                <a:endParaRPr lang="ko-KR" altLang="en-US" sz="2000" dirty="0"/>
              </a:p>
            </p:txBody>
          </p:sp>
          <p:sp>
            <p:nvSpPr>
              <p:cNvPr id="240" name="Google Shape;240;p5">
                <a:extLst>
                  <a:ext uri="{FF2B5EF4-FFF2-40B4-BE49-F238E27FC236}">
                    <a16:creationId xmlns:a16="http://schemas.microsoft.com/office/drawing/2014/main" id="{E236C686-DF98-8D3B-A127-20BD31F729A4}"/>
                  </a:ext>
                </a:extLst>
              </p:cNvPr>
              <p:cNvSpPr txBox="1"/>
              <p:nvPr/>
            </p:nvSpPr>
            <p:spPr>
              <a:xfrm>
                <a:off x="376102" y="333243"/>
                <a:ext cx="838923" cy="6924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0" rIns="91425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4500" dirty="0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4500" b="1" dirty="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D0B51A-AD8B-BB8F-5E99-EB15C4578A8C}"/>
                </a:ext>
              </a:extLst>
            </p:cNvPr>
            <p:cNvSpPr txBox="1"/>
            <p:nvPr/>
          </p:nvSpPr>
          <p:spPr>
            <a:xfrm>
              <a:off x="1036994" y="418397"/>
              <a:ext cx="708848" cy="630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500" dirty="0">
                  <a:solidFill>
                    <a:schemeClr val="accent1"/>
                  </a:solidFill>
                </a:rPr>
                <a:t>- 3</a:t>
              </a:r>
              <a:endParaRPr lang="ko-KR" altLang="en-US" sz="35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6" name="Google Shape;264;p5">
            <a:extLst>
              <a:ext uri="{FF2B5EF4-FFF2-40B4-BE49-F238E27FC236}">
                <a16:creationId xmlns:a16="http://schemas.microsoft.com/office/drawing/2014/main" id="{12532892-5B59-DCCF-829E-0FBF608AA024}"/>
              </a:ext>
            </a:extLst>
          </p:cNvPr>
          <p:cNvGrpSpPr/>
          <p:nvPr/>
        </p:nvGrpSpPr>
        <p:grpSpPr>
          <a:xfrm>
            <a:off x="-2101823" y="2178677"/>
            <a:ext cx="1618485" cy="3169826"/>
            <a:chOff x="501797" y="2344962"/>
            <a:chExt cx="2122308" cy="3832181"/>
          </a:xfrm>
        </p:grpSpPr>
        <p:grpSp>
          <p:nvGrpSpPr>
            <p:cNvPr id="27" name="Google Shape;265;p5">
              <a:extLst>
                <a:ext uri="{FF2B5EF4-FFF2-40B4-BE49-F238E27FC236}">
                  <a16:creationId xmlns:a16="http://schemas.microsoft.com/office/drawing/2014/main" id="{C4C299D9-4E47-776F-FABA-77040DFF7047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</p:grpSpPr>
          <p:sp>
            <p:nvSpPr>
              <p:cNvPr id="35" name="Google Shape;266;p5">
                <a:extLst>
                  <a:ext uri="{FF2B5EF4-FFF2-40B4-BE49-F238E27FC236}">
                    <a16:creationId xmlns:a16="http://schemas.microsoft.com/office/drawing/2014/main" id="{3525BBE0-C777-7D99-017E-486BA4772E58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9803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6" name="Google Shape;267;p5">
                <a:extLst>
                  <a:ext uri="{FF2B5EF4-FFF2-40B4-BE49-F238E27FC236}">
                    <a16:creationId xmlns:a16="http://schemas.microsoft.com/office/drawing/2014/main" id="{D467CD6E-4319-3DE2-32FA-4B20ABB2C3CF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8" name="Google Shape;268;p5">
              <a:extLst>
                <a:ext uri="{FF2B5EF4-FFF2-40B4-BE49-F238E27FC236}">
                  <a16:creationId xmlns:a16="http://schemas.microsoft.com/office/drawing/2014/main" id="{F26C5E77-7EFE-3816-6AFC-49754F3B2D95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 dirty="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 및 선정 배경, </a:t>
              </a:r>
              <a:br>
                <a:rPr lang="ko-KR" sz="1800" b="1" dirty="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800" b="1" dirty="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기획의도</a:t>
              </a:r>
              <a:endParaRPr dirty="0"/>
            </a:p>
          </p:txBody>
        </p:sp>
        <p:grpSp>
          <p:nvGrpSpPr>
            <p:cNvPr id="29" name="Google Shape;269;p5">
              <a:extLst>
                <a:ext uri="{FF2B5EF4-FFF2-40B4-BE49-F238E27FC236}">
                  <a16:creationId xmlns:a16="http://schemas.microsoft.com/office/drawing/2014/main" id="{3EAAF38D-F0CD-3578-E1BF-1E4304234259}"/>
                </a:ext>
              </a:extLst>
            </p:cNvPr>
            <p:cNvGrpSpPr/>
            <p:nvPr/>
          </p:nvGrpSpPr>
          <p:grpSpPr>
            <a:xfrm>
              <a:off x="1388467" y="2344962"/>
              <a:ext cx="418718" cy="416501"/>
              <a:chOff x="427587" y="2066948"/>
              <a:chExt cx="912263" cy="907435"/>
            </a:xfrm>
          </p:grpSpPr>
          <p:sp>
            <p:nvSpPr>
              <p:cNvPr id="32" name="Google Shape;270;p5">
                <a:extLst>
                  <a:ext uri="{FF2B5EF4-FFF2-40B4-BE49-F238E27FC236}">
                    <a16:creationId xmlns:a16="http://schemas.microsoft.com/office/drawing/2014/main" id="{8B3CA34E-2D61-34E7-80BE-88BD8FFF08E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3" name="Google Shape;271;p5">
                <a:extLst>
                  <a:ext uri="{FF2B5EF4-FFF2-40B4-BE49-F238E27FC236}">
                    <a16:creationId xmlns:a16="http://schemas.microsoft.com/office/drawing/2014/main" id="{FDCFF2B2-89BE-1181-042D-083C177C119A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4" name="Google Shape;272;p5">
                <a:extLst>
                  <a:ext uri="{FF2B5EF4-FFF2-40B4-BE49-F238E27FC236}">
                    <a16:creationId xmlns:a16="http://schemas.microsoft.com/office/drawing/2014/main" id="{978BDFF5-2BB3-0EF9-79B8-0B07A067733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" name="Google Shape;273;p5">
              <a:extLst>
                <a:ext uri="{FF2B5EF4-FFF2-40B4-BE49-F238E27FC236}">
                  <a16:creationId xmlns:a16="http://schemas.microsoft.com/office/drawing/2014/main" id="{7C4E00B7-B2BC-714E-6EA3-C127B41FDF3B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주제의</a:t>
              </a:r>
              <a:br>
                <a:rPr lang="ko-KR" sz="12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 b="1" u="sng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특화 포인트</a:t>
              </a:r>
              <a:r>
                <a:rPr lang="ko-KR" sz="12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</a:t>
              </a:r>
              <a:br>
                <a:rPr lang="ko-KR" sz="12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기존 유사 서비스와</a:t>
              </a:r>
              <a:br>
                <a:rPr lang="ko-KR" sz="12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 b="1" u="sng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차별화된 내용</a:t>
              </a:r>
              <a:r>
                <a:rPr lang="ko-KR" sz="1200" b="1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제시 </a:t>
              </a:r>
              <a:endParaRPr dirty="0"/>
            </a:p>
          </p:txBody>
        </p:sp>
        <p:cxnSp>
          <p:nvCxnSpPr>
            <p:cNvPr id="31" name="Google Shape;274;p5">
              <a:extLst>
                <a:ext uri="{FF2B5EF4-FFF2-40B4-BE49-F238E27FC236}">
                  <a16:creationId xmlns:a16="http://schemas.microsoft.com/office/drawing/2014/main" id="{D7051F85-F54F-15F1-D0CF-6E911C64DE8B}"/>
                </a:ext>
              </a:extLst>
            </p:cNvPr>
            <p:cNvCxnSpPr/>
            <p:nvPr/>
          </p:nvCxnSpPr>
          <p:spPr>
            <a:xfrm>
              <a:off x="1458728" y="4260129"/>
              <a:ext cx="208445" cy="0"/>
            </a:xfrm>
            <a:prstGeom prst="straightConnector1">
              <a:avLst/>
            </a:prstGeom>
            <a:noFill/>
            <a:ln w="19050" cap="flat" cmpd="sng">
              <a:solidFill>
                <a:srgbClr val="3378C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B5AF75C-04DF-8885-6DD7-6543C32E1ABA}"/>
              </a:ext>
            </a:extLst>
          </p:cNvPr>
          <p:cNvSpPr/>
          <p:nvPr/>
        </p:nvSpPr>
        <p:spPr>
          <a:xfrm>
            <a:off x="598359" y="1950500"/>
            <a:ext cx="3361747" cy="3689127"/>
          </a:xfrm>
          <a:prstGeom prst="round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D93A7F5-370F-DE39-FC12-165711B50060}"/>
              </a:ext>
            </a:extLst>
          </p:cNvPr>
          <p:cNvSpPr/>
          <p:nvPr/>
        </p:nvSpPr>
        <p:spPr>
          <a:xfrm>
            <a:off x="4465271" y="1965504"/>
            <a:ext cx="3361747" cy="3689127"/>
          </a:xfrm>
          <a:prstGeom prst="round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3E62ABE-DD40-7E55-159A-4ED319C2CE33}"/>
              </a:ext>
            </a:extLst>
          </p:cNvPr>
          <p:cNvSpPr/>
          <p:nvPr/>
        </p:nvSpPr>
        <p:spPr>
          <a:xfrm>
            <a:off x="8332183" y="1950500"/>
            <a:ext cx="3361747" cy="3689127"/>
          </a:xfrm>
          <a:prstGeom prst="round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B3A980-3498-4CCE-6D02-C0F46EFF5BB2}"/>
              </a:ext>
            </a:extLst>
          </p:cNvPr>
          <p:cNvSpPr txBox="1"/>
          <p:nvPr/>
        </p:nvSpPr>
        <p:spPr>
          <a:xfrm>
            <a:off x="723178" y="3050292"/>
            <a:ext cx="3135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OpenAPI</a:t>
            </a:r>
            <a:r>
              <a:rPr lang="en-US" altLang="ko-KR" dirty="0"/>
              <a:t> </a:t>
            </a:r>
            <a:r>
              <a:rPr lang="ko-KR" altLang="en-US" dirty="0"/>
              <a:t>기반 콘텐츠 제공 기능 구현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12B76ADA-12A1-D898-BC8A-7F48F971BC1A}"/>
              </a:ext>
            </a:extLst>
          </p:cNvPr>
          <p:cNvGrpSpPr/>
          <p:nvPr/>
        </p:nvGrpSpPr>
        <p:grpSpPr>
          <a:xfrm>
            <a:off x="1549961" y="1745408"/>
            <a:ext cx="1105611" cy="407890"/>
            <a:chOff x="-1597936" y="660623"/>
            <a:chExt cx="1105611" cy="407890"/>
          </a:xfrm>
        </p:grpSpPr>
        <p:sp>
          <p:nvSpPr>
            <p:cNvPr id="244" name="Google Shape;244;p5">
              <a:extLst>
                <a:ext uri="{FF2B5EF4-FFF2-40B4-BE49-F238E27FC236}">
                  <a16:creationId xmlns:a16="http://schemas.microsoft.com/office/drawing/2014/main" id="{BDEB0C47-EFBF-6289-4EA6-0B7EEB9E04A9}"/>
                </a:ext>
              </a:extLst>
            </p:cNvPr>
            <p:cNvSpPr/>
            <p:nvPr/>
          </p:nvSpPr>
          <p:spPr>
            <a:xfrm>
              <a:off x="-1597936" y="779980"/>
              <a:ext cx="133940" cy="192355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C87FC2AE-F61B-1D2D-1DBC-3D43470E4D85}"/>
                </a:ext>
              </a:extLst>
            </p:cNvPr>
            <p:cNvSpPr/>
            <p:nvPr/>
          </p:nvSpPr>
          <p:spPr>
            <a:xfrm>
              <a:off x="-1379124" y="660623"/>
              <a:ext cx="886799" cy="407890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>
                  <a:latin typeface="+mj-lt"/>
                </a:rPr>
                <a:t>목적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8E822528-82FD-3088-B7B7-BB11679E20EC}"/>
              </a:ext>
            </a:extLst>
          </p:cNvPr>
          <p:cNvGrpSpPr/>
          <p:nvPr/>
        </p:nvGrpSpPr>
        <p:grpSpPr>
          <a:xfrm>
            <a:off x="5340786" y="1687068"/>
            <a:ext cx="1510427" cy="451942"/>
            <a:chOff x="-1610504" y="602283"/>
            <a:chExt cx="1510427" cy="451942"/>
          </a:xfrm>
        </p:grpSpPr>
        <p:sp>
          <p:nvSpPr>
            <p:cNvPr id="192" name="Google Shape;244;p5">
              <a:extLst>
                <a:ext uri="{FF2B5EF4-FFF2-40B4-BE49-F238E27FC236}">
                  <a16:creationId xmlns:a16="http://schemas.microsoft.com/office/drawing/2014/main" id="{201E1828-9484-FA2D-9618-A0FC0DFA0F5F}"/>
                </a:ext>
              </a:extLst>
            </p:cNvPr>
            <p:cNvSpPr/>
            <p:nvPr/>
          </p:nvSpPr>
          <p:spPr>
            <a:xfrm>
              <a:off x="-1610504" y="752019"/>
              <a:ext cx="133940" cy="192355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3" name="사각형: 둥근 모서리 192">
              <a:extLst>
                <a:ext uri="{FF2B5EF4-FFF2-40B4-BE49-F238E27FC236}">
                  <a16:creationId xmlns:a16="http://schemas.microsoft.com/office/drawing/2014/main" id="{8AF595AC-A726-2272-5ACD-DE8A6E54282E}"/>
                </a:ext>
              </a:extLst>
            </p:cNvPr>
            <p:cNvSpPr/>
            <p:nvPr/>
          </p:nvSpPr>
          <p:spPr>
            <a:xfrm>
              <a:off x="-1379124" y="602283"/>
              <a:ext cx="1279047" cy="451942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>
                  <a:latin typeface="+mj-lt"/>
                </a:rPr>
                <a:t>진행 일정</a:t>
              </a:r>
            </a:p>
          </p:txBody>
        </p:sp>
      </p:grp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C77DAB49-BD4F-C956-E554-BC217DC9CEB5}"/>
              </a:ext>
            </a:extLst>
          </p:cNvPr>
          <p:cNvGrpSpPr/>
          <p:nvPr/>
        </p:nvGrpSpPr>
        <p:grpSpPr>
          <a:xfrm>
            <a:off x="9207698" y="1701356"/>
            <a:ext cx="1510427" cy="479511"/>
            <a:chOff x="-1610504" y="589002"/>
            <a:chExt cx="1510427" cy="479511"/>
          </a:xfrm>
        </p:grpSpPr>
        <p:sp>
          <p:nvSpPr>
            <p:cNvPr id="195" name="Google Shape;244;p5">
              <a:extLst>
                <a:ext uri="{FF2B5EF4-FFF2-40B4-BE49-F238E27FC236}">
                  <a16:creationId xmlns:a16="http://schemas.microsoft.com/office/drawing/2014/main" id="{66503464-3035-1DA8-D4F7-12027ED3F7AB}"/>
                </a:ext>
              </a:extLst>
            </p:cNvPr>
            <p:cNvSpPr/>
            <p:nvPr/>
          </p:nvSpPr>
          <p:spPr>
            <a:xfrm>
              <a:off x="-1610504" y="752019"/>
              <a:ext cx="133940" cy="192355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사각형: 둥근 모서리 195">
              <a:extLst>
                <a:ext uri="{FF2B5EF4-FFF2-40B4-BE49-F238E27FC236}">
                  <a16:creationId xmlns:a16="http://schemas.microsoft.com/office/drawing/2014/main" id="{40EBB571-553C-9979-8C32-361990C1BE82}"/>
                </a:ext>
              </a:extLst>
            </p:cNvPr>
            <p:cNvSpPr/>
            <p:nvPr/>
          </p:nvSpPr>
          <p:spPr>
            <a:xfrm>
              <a:off x="-1379124" y="589002"/>
              <a:ext cx="1279047" cy="479511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dirty="0">
                  <a:latin typeface="+mj-lt"/>
                </a:rPr>
                <a:t>구체적인 </a:t>
              </a:r>
              <a:endParaRPr lang="en-US" altLang="ko-KR" sz="1500" b="1" dirty="0">
                <a:latin typeface="+mj-lt"/>
              </a:endParaRPr>
            </a:p>
            <a:p>
              <a:pPr algn="ctr"/>
              <a:r>
                <a:rPr lang="ko-KR" altLang="en-US" sz="1500" b="1" dirty="0">
                  <a:latin typeface="+mj-lt"/>
                </a:rPr>
                <a:t>실행내역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FC45996-83CF-E411-6A33-2D7D0C75001A}"/>
              </a:ext>
            </a:extLst>
          </p:cNvPr>
          <p:cNvSpPr txBox="1"/>
          <p:nvPr/>
        </p:nvSpPr>
        <p:spPr>
          <a:xfrm>
            <a:off x="695519" y="3459584"/>
            <a:ext cx="3135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MVC </a:t>
            </a:r>
            <a:r>
              <a:rPr lang="ko-KR" altLang="en-US" dirty="0"/>
              <a:t>패턴 기반 웹 서비스 구조 이해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27F1B-6374-8E27-0AA3-DE7D22C1224A}"/>
              </a:ext>
            </a:extLst>
          </p:cNvPr>
          <p:cNvSpPr txBox="1"/>
          <p:nvPr/>
        </p:nvSpPr>
        <p:spPr>
          <a:xfrm>
            <a:off x="695518" y="3897315"/>
            <a:ext cx="3275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트랜잭션 기반 </a:t>
            </a:r>
            <a:r>
              <a:rPr lang="en-US" altLang="ko-KR" dirty="0"/>
              <a:t>MD </a:t>
            </a:r>
            <a:r>
              <a:rPr lang="ko-KR" altLang="en-US" dirty="0"/>
              <a:t>재고 관리 로직 구현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977DAEC-8307-DA3B-CC40-2D25F4325318}"/>
              </a:ext>
            </a:extLst>
          </p:cNvPr>
          <p:cNvGrpSpPr/>
          <p:nvPr/>
        </p:nvGrpSpPr>
        <p:grpSpPr>
          <a:xfrm>
            <a:off x="4426853" y="2858109"/>
            <a:ext cx="3438582" cy="1691601"/>
            <a:chOff x="4456669" y="2465037"/>
            <a:chExt cx="3438582" cy="169160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FEFA507-D0AD-BCD7-9CD5-575BB5780B87}"/>
                </a:ext>
              </a:extLst>
            </p:cNvPr>
            <p:cNvSpPr txBox="1"/>
            <p:nvPr/>
          </p:nvSpPr>
          <p:spPr>
            <a:xfrm>
              <a:off x="4470916" y="2465037"/>
              <a:ext cx="34243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 algn="ctr">
                <a:buFont typeface="Arial" panose="020B0604020202020204" pitchFamily="34" charset="0"/>
                <a:buChar char="•"/>
              </a:pPr>
              <a:r>
                <a:rPr lang="en-US" altLang="ko-KR" dirty="0"/>
                <a:t>1</a:t>
              </a:r>
              <a:r>
                <a:rPr lang="ko-KR" altLang="en-US" dirty="0"/>
                <a:t>주차 </a:t>
              </a:r>
              <a:r>
                <a:rPr lang="en-US" altLang="ko-KR" dirty="0"/>
                <a:t>: </a:t>
              </a:r>
              <a:r>
                <a:rPr lang="ko-KR" altLang="en-US" dirty="0"/>
                <a:t>주제 선정 및 요구사항 정의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7218CC1-E7F7-ECF5-A5EF-2C00FFDFC190}"/>
                </a:ext>
              </a:extLst>
            </p:cNvPr>
            <p:cNvSpPr txBox="1"/>
            <p:nvPr/>
          </p:nvSpPr>
          <p:spPr>
            <a:xfrm>
              <a:off x="4456669" y="2942994"/>
              <a:ext cx="33650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 algn="ctr">
                <a:buFont typeface="Arial" panose="020B0604020202020204" pitchFamily="34" charset="0"/>
                <a:buChar char="•"/>
              </a:pPr>
              <a:r>
                <a:rPr lang="en-US" altLang="ko-KR" dirty="0"/>
                <a:t>2</a:t>
              </a:r>
              <a:r>
                <a:rPr lang="ko-KR" altLang="en-US" dirty="0"/>
                <a:t>주차 </a:t>
              </a:r>
              <a:r>
                <a:rPr lang="en-US" altLang="ko-KR" dirty="0"/>
                <a:t>: DB </a:t>
              </a:r>
              <a:r>
                <a:rPr lang="ko-KR" altLang="en-US" dirty="0"/>
                <a:t>설계 및 화면 구조 설계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EE8CF06-FA65-7DEE-757F-1FE84891EA5A}"/>
                </a:ext>
              </a:extLst>
            </p:cNvPr>
            <p:cNvSpPr txBox="1"/>
            <p:nvPr/>
          </p:nvSpPr>
          <p:spPr>
            <a:xfrm>
              <a:off x="4526078" y="3417564"/>
              <a:ext cx="23150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 algn="ctr">
                <a:buFont typeface="Arial" panose="020B0604020202020204" pitchFamily="34" charset="0"/>
                <a:buChar char="•"/>
              </a:pPr>
              <a:r>
                <a:rPr lang="en-US" altLang="ko-KR" dirty="0"/>
                <a:t>3</a:t>
              </a:r>
              <a:r>
                <a:rPr lang="ko-KR" altLang="en-US" dirty="0"/>
                <a:t>주차 </a:t>
              </a:r>
              <a:r>
                <a:rPr lang="en-US" altLang="ko-KR" dirty="0"/>
                <a:t>: </a:t>
              </a:r>
              <a:r>
                <a:rPr lang="ko-KR" altLang="en-US" dirty="0"/>
                <a:t>핵심 기능 구현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429DAB-719E-852C-018F-29C361BFFE11}"/>
                </a:ext>
              </a:extLst>
            </p:cNvPr>
            <p:cNvSpPr txBox="1"/>
            <p:nvPr/>
          </p:nvSpPr>
          <p:spPr>
            <a:xfrm>
              <a:off x="4526078" y="3848861"/>
              <a:ext cx="27238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 algn="ctr">
                <a:buFont typeface="Arial" panose="020B0604020202020204" pitchFamily="34" charset="0"/>
                <a:buChar char="•"/>
              </a:pPr>
              <a:r>
                <a:rPr lang="en-US" altLang="ko-KR" dirty="0"/>
                <a:t>4</a:t>
              </a:r>
              <a:r>
                <a:rPr lang="ko-KR" altLang="en-US" dirty="0"/>
                <a:t>주차 </a:t>
              </a:r>
              <a:r>
                <a:rPr lang="en-US" altLang="ko-KR" dirty="0"/>
                <a:t>: </a:t>
              </a:r>
              <a:r>
                <a:rPr lang="ko-KR" altLang="en-US" dirty="0"/>
                <a:t>테스트 및 오류 수정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AF3C7AA-29AD-4C73-F8C0-2C840F1F1079}"/>
              </a:ext>
            </a:extLst>
          </p:cNvPr>
          <p:cNvSpPr txBox="1"/>
          <p:nvPr/>
        </p:nvSpPr>
        <p:spPr>
          <a:xfrm>
            <a:off x="8528378" y="2583556"/>
            <a:ext cx="306526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 </a:t>
            </a:r>
            <a:r>
              <a:rPr lang="ko-KR" altLang="en-US" dirty="0"/>
              <a:t>회원 및 권한 관리 기능 구현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 </a:t>
            </a:r>
            <a:r>
              <a:rPr lang="en-US" altLang="ko-KR" dirty="0" err="1"/>
              <a:t>OpenAPI</a:t>
            </a:r>
            <a:r>
              <a:rPr lang="en-US" altLang="ko-KR" dirty="0"/>
              <a:t> </a:t>
            </a:r>
            <a:r>
              <a:rPr lang="ko-KR" altLang="en-US" dirty="0"/>
              <a:t>연동을 통한 아티스트 </a:t>
            </a:r>
            <a:endParaRPr lang="en-US" altLang="ko-KR" dirty="0"/>
          </a:p>
          <a:p>
            <a:r>
              <a:rPr lang="en-US" altLang="ko-KR" dirty="0"/>
              <a:t>       </a:t>
            </a:r>
            <a:r>
              <a:rPr lang="ko-KR" altLang="en-US" dirty="0"/>
              <a:t>정보 제공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 </a:t>
            </a:r>
            <a:r>
              <a:rPr lang="en-US" altLang="ko-KR" dirty="0"/>
              <a:t>MD </a:t>
            </a:r>
            <a:r>
              <a:rPr lang="ko-KR" altLang="en-US" dirty="0"/>
              <a:t>상품 및 옵션별 재고 관리 </a:t>
            </a:r>
            <a:endParaRPr lang="en-US" altLang="ko-KR" dirty="0"/>
          </a:p>
          <a:p>
            <a:r>
              <a:rPr lang="en-US" altLang="ko-KR" dirty="0"/>
              <a:t>      </a:t>
            </a:r>
            <a:r>
              <a:rPr lang="ko-KR" altLang="en-US" dirty="0"/>
              <a:t>기능 구현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 </a:t>
            </a:r>
            <a:r>
              <a:rPr lang="ko-KR" altLang="en-US" dirty="0"/>
              <a:t>주문</a:t>
            </a:r>
            <a:r>
              <a:rPr lang="en-US" altLang="ko-KR" dirty="0"/>
              <a:t>·</a:t>
            </a:r>
            <a:r>
              <a:rPr lang="ko-KR" altLang="en-US" dirty="0"/>
              <a:t>환불 처리에 따른 </a:t>
            </a:r>
            <a:endParaRPr lang="en-US" altLang="ko-KR" dirty="0"/>
          </a:p>
          <a:p>
            <a:r>
              <a:rPr lang="en-US" altLang="ko-KR" dirty="0"/>
              <a:t>      </a:t>
            </a:r>
            <a:r>
              <a:rPr lang="ko-KR" altLang="en-US" dirty="0"/>
              <a:t>재고 트랜잭션 적용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 </a:t>
            </a:r>
            <a:r>
              <a:rPr lang="ko-KR" altLang="en-US" dirty="0"/>
              <a:t>게시판 및 후기 기능 구현</a:t>
            </a:r>
          </a:p>
        </p:txBody>
      </p:sp>
    </p:spTree>
    <p:extLst>
      <p:ext uri="{BB962C8B-B14F-4D97-AF65-F5344CB8AC3E}">
        <p14:creationId xmlns:p14="http://schemas.microsoft.com/office/powerpoint/2010/main" val="346244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DF330C43-DC3E-C358-BF9F-49DE1F388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">
            <a:extLst>
              <a:ext uri="{FF2B5EF4-FFF2-40B4-BE49-F238E27FC236}">
                <a16:creationId xmlns:a16="http://schemas.microsoft.com/office/drawing/2014/main" id="{FFE22538-6F47-2320-B4E5-265A9230E9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>
            <a:extLst>
              <a:ext uri="{FF2B5EF4-FFF2-40B4-BE49-F238E27FC236}">
                <a16:creationId xmlns:a16="http://schemas.microsoft.com/office/drawing/2014/main" id="{44434902-8A4A-C79F-55FB-B0167A462DCD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1" name="Google Shape;241;p5">
            <a:extLst>
              <a:ext uri="{FF2B5EF4-FFF2-40B4-BE49-F238E27FC236}">
                <a16:creationId xmlns:a16="http://schemas.microsoft.com/office/drawing/2014/main" id="{2F0F0BCC-3327-131A-F82D-3C92B5A72AF1}"/>
              </a:ext>
            </a:extLst>
          </p:cNvPr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13365" y="1325437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5">
            <a:extLst>
              <a:ext uri="{FF2B5EF4-FFF2-40B4-BE49-F238E27FC236}">
                <a16:creationId xmlns:a16="http://schemas.microsoft.com/office/drawing/2014/main" id="{19E9BC46-6C5A-F680-BC9A-5EFF7532AADF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>
            <a:extLst>
              <a:ext uri="{FF2B5EF4-FFF2-40B4-BE49-F238E27FC236}">
                <a16:creationId xmlns:a16="http://schemas.microsoft.com/office/drawing/2014/main" id="{3461EF41-ACFA-66BC-7381-43E9949D18CB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5">
            <a:extLst>
              <a:ext uri="{FF2B5EF4-FFF2-40B4-BE49-F238E27FC236}">
                <a16:creationId xmlns:a16="http://schemas.microsoft.com/office/drawing/2014/main" id="{C4CFA195-ABE7-BC91-E32F-5BBF05BA4DD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>
            <a:extLst>
              <a:ext uri="{FF2B5EF4-FFF2-40B4-BE49-F238E27FC236}">
                <a16:creationId xmlns:a16="http://schemas.microsoft.com/office/drawing/2014/main" id="{42F7AD91-B6B8-219F-1F30-AFAFDB8FECF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>
            <a:extLst>
              <a:ext uri="{FF2B5EF4-FFF2-40B4-BE49-F238E27FC236}">
                <a16:creationId xmlns:a16="http://schemas.microsoft.com/office/drawing/2014/main" id="{ED762AC6-4482-C1DB-0B40-0EB7238A2F8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>
            <a:extLst>
              <a:ext uri="{FF2B5EF4-FFF2-40B4-BE49-F238E27FC236}">
                <a16:creationId xmlns:a16="http://schemas.microsoft.com/office/drawing/2014/main" id="{8992D87B-F89A-D85F-8163-C2FE337581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>
            <a:extLst>
              <a:ext uri="{FF2B5EF4-FFF2-40B4-BE49-F238E27FC236}">
                <a16:creationId xmlns:a16="http://schemas.microsoft.com/office/drawing/2014/main" id="{CCB00669-0ACD-8BE4-0D08-1AFAE2A0053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5934670"/>
            <a:ext cx="12192000" cy="9233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5">
            <a:extLst>
              <a:ext uri="{FF2B5EF4-FFF2-40B4-BE49-F238E27FC236}">
                <a16:creationId xmlns:a16="http://schemas.microsoft.com/office/drawing/2014/main" id="{AFF7FCA3-F9E7-6401-8754-51EAA67D01B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309" name="Google Shape;309;p5" descr="EMB0000378c3f3d">
              <a:extLst>
                <a:ext uri="{FF2B5EF4-FFF2-40B4-BE49-F238E27FC236}">
                  <a16:creationId xmlns:a16="http://schemas.microsoft.com/office/drawing/2014/main" id="{662C9405-0E7E-9BD1-A095-153EB4C6468E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5">
              <a:extLst>
                <a:ext uri="{FF2B5EF4-FFF2-40B4-BE49-F238E27FC236}">
                  <a16:creationId xmlns:a16="http://schemas.microsoft.com/office/drawing/2014/main" id="{5D8132B6-8D31-3009-CB92-C57EAFCC10D0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C18E12C-2A38-09F7-691F-5E1683DC7415}"/>
              </a:ext>
            </a:extLst>
          </p:cNvPr>
          <p:cNvGrpSpPr/>
          <p:nvPr/>
        </p:nvGrpSpPr>
        <p:grpSpPr>
          <a:xfrm>
            <a:off x="376102" y="327212"/>
            <a:ext cx="6148279" cy="722127"/>
            <a:chOff x="376102" y="327212"/>
            <a:chExt cx="6148279" cy="722127"/>
          </a:xfrm>
        </p:grpSpPr>
        <p:grpSp>
          <p:nvGrpSpPr>
            <p:cNvPr id="237" name="Google Shape;237;p5">
              <a:extLst>
                <a:ext uri="{FF2B5EF4-FFF2-40B4-BE49-F238E27FC236}">
                  <a16:creationId xmlns:a16="http://schemas.microsoft.com/office/drawing/2014/main" id="{0F563BED-9876-71B7-CFCB-7EF33E5FFF3C}"/>
                </a:ext>
              </a:extLst>
            </p:cNvPr>
            <p:cNvGrpSpPr/>
            <p:nvPr/>
          </p:nvGrpSpPr>
          <p:grpSpPr>
            <a:xfrm>
              <a:off x="376102" y="327212"/>
              <a:ext cx="6148279" cy="698528"/>
              <a:chOff x="376102" y="327212"/>
              <a:chExt cx="6148279" cy="698528"/>
            </a:xfrm>
          </p:grpSpPr>
          <p:sp>
            <p:nvSpPr>
              <p:cNvPr id="238" name="Google Shape;238;p5">
                <a:extLst>
                  <a:ext uri="{FF2B5EF4-FFF2-40B4-BE49-F238E27FC236}">
                    <a16:creationId xmlns:a16="http://schemas.microsoft.com/office/drawing/2014/main" id="{A143DB32-2C99-6BF6-DD2F-A9FF3FA9C9D3}"/>
                  </a:ext>
                </a:extLst>
              </p:cNvPr>
              <p:cNvSpPr txBox="1"/>
              <p:nvPr/>
            </p:nvSpPr>
            <p:spPr>
              <a:xfrm>
                <a:off x="1707893" y="327212"/>
                <a:ext cx="225221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 b="1" dirty="0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K-Digital </a:t>
                </a:r>
                <a:r>
                  <a:rPr lang="ko-KR" sz="1200" b="1" dirty="0" err="1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Training</a:t>
                </a:r>
                <a:endParaRPr sz="1200" b="1" dirty="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39" name="Google Shape;239;p5">
                <a:extLst>
                  <a:ext uri="{FF2B5EF4-FFF2-40B4-BE49-F238E27FC236}">
                    <a16:creationId xmlns:a16="http://schemas.microsoft.com/office/drawing/2014/main" id="{E7BB6CE1-D89C-1940-46AA-919AEF6DDE91}"/>
                  </a:ext>
                </a:extLst>
              </p:cNvPr>
              <p:cNvSpPr txBox="1"/>
              <p:nvPr/>
            </p:nvSpPr>
            <p:spPr>
              <a:xfrm>
                <a:off x="1661502" y="592496"/>
                <a:ext cx="4862879" cy="400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altLang="en-US" sz="2000" b="1" dirty="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활용 방안 </a:t>
                </a:r>
                <a:r>
                  <a:rPr lang="en-US" altLang="ko-KR" sz="2000" b="1" dirty="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&amp; </a:t>
                </a:r>
                <a:r>
                  <a:rPr lang="ko-KR" altLang="en-US" sz="2000" b="1" dirty="0">
                    <a:solidFill>
                      <a:srgbClr val="3F3F3F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기대 효과</a:t>
                </a:r>
                <a:endParaRPr sz="2000" dirty="0"/>
              </a:p>
            </p:txBody>
          </p:sp>
          <p:sp>
            <p:nvSpPr>
              <p:cNvPr id="240" name="Google Shape;240;p5">
                <a:extLst>
                  <a:ext uri="{FF2B5EF4-FFF2-40B4-BE49-F238E27FC236}">
                    <a16:creationId xmlns:a16="http://schemas.microsoft.com/office/drawing/2014/main" id="{50AB33E0-EB14-6E01-DCEE-C05B8B345AE2}"/>
                  </a:ext>
                </a:extLst>
              </p:cNvPr>
              <p:cNvSpPr txBox="1"/>
              <p:nvPr/>
            </p:nvSpPr>
            <p:spPr>
              <a:xfrm>
                <a:off x="376102" y="333243"/>
                <a:ext cx="838923" cy="6924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0" rIns="91425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4500" dirty="0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4500" b="1" dirty="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602949-7FB2-47A1-EF63-70D1C546ED9C}"/>
                </a:ext>
              </a:extLst>
            </p:cNvPr>
            <p:cNvSpPr txBox="1"/>
            <p:nvPr/>
          </p:nvSpPr>
          <p:spPr>
            <a:xfrm>
              <a:off x="1036994" y="418397"/>
              <a:ext cx="708848" cy="630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500" dirty="0">
                  <a:solidFill>
                    <a:schemeClr val="accent1"/>
                  </a:solidFill>
                </a:rPr>
                <a:t>- 4</a:t>
              </a:r>
              <a:endParaRPr lang="ko-KR" altLang="en-US" sz="35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A3ABEFD-6C2C-F3C5-C414-7456D7262977}"/>
              </a:ext>
            </a:extLst>
          </p:cNvPr>
          <p:cNvGrpSpPr/>
          <p:nvPr/>
        </p:nvGrpSpPr>
        <p:grpSpPr>
          <a:xfrm>
            <a:off x="6398745" y="1820451"/>
            <a:ext cx="5032767" cy="3894219"/>
            <a:chOff x="598359" y="1745408"/>
            <a:chExt cx="3361747" cy="389421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9051B5C4-7088-7C18-83C9-D4E837B5BA91}"/>
                </a:ext>
              </a:extLst>
            </p:cNvPr>
            <p:cNvSpPr/>
            <p:nvPr/>
          </p:nvSpPr>
          <p:spPr>
            <a:xfrm>
              <a:off x="598359" y="1950500"/>
              <a:ext cx="3361747" cy="3689127"/>
            </a:xfrm>
            <a:prstGeom prst="roundRect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2849E492-1BA7-D8DF-E58F-9957A4F2DD70}"/>
                </a:ext>
              </a:extLst>
            </p:cNvPr>
            <p:cNvGrpSpPr/>
            <p:nvPr/>
          </p:nvGrpSpPr>
          <p:grpSpPr>
            <a:xfrm>
              <a:off x="1549961" y="1745408"/>
              <a:ext cx="1396799" cy="407890"/>
              <a:chOff x="-1597936" y="660623"/>
              <a:chExt cx="1396799" cy="407890"/>
            </a:xfrm>
          </p:grpSpPr>
          <p:sp>
            <p:nvSpPr>
              <p:cNvPr id="244" name="Google Shape;244;p5">
                <a:extLst>
                  <a:ext uri="{FF2B5EF4-FFF2-40B4-BE49-F238E27FC236}">
                    <a16:creationId xmlns:a16="http://schemas.microsoft.com/office/drawing/2014/main" id="{016DA80D-1003-6CC5-7C77-B376B57A5C8E}"/>
                  </a:ext>
                </a:extLst>
              </p:cNvPr>
              <p:cNvSpPr/>
              <p:nvPr/>
            </p:nvSpPr>
            <p:spPr>
              <a:xfrm>
                <a:off x="-1597936" y="779980"/>
                <a:ext cx="133940" cy="19235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506845" extrusionOk="0">
                    <a:moveTo>
                      <a:pt x="428021" y="214932"/>
                    </a:moveTo>
                    <a:lnTo>
                      <a:pt x="66705" y="6045"/>
                    </a:lnTo>
                    <a:cubicBezTo>
                      <a:pt x="37072" y="-11108"/>
                      <a:pt x="0" y="10287"/>
                      <a:pt x="0" y="44511"/>
                    </a:cubicBezTo>
                    <a:lnTo>
                      <a:pt x="0" y="462326"/>
                    </a:lnTo>
                    <a:cubicBezTo>
                      <a:pt x="0" y="496550"/>
                      <a:pt x="37072" y="517945"/>
                      <a:pt x="66705" y="500812"/>
                    </a:cubicBezTo>
                    <a:lnTo>
                      <a:pt x="428021" y="291905"/>
                    </a:lnTo>
                    <a:cubicBezTo>
                      <a:pt x="457613" y="274793"/>
                      <a:pt x="457613" y="232064"/>
                      <a:pt x="428021" y="214932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  <a:effectLst>
                <a:outerShdw blurRad="50800" dist="38100" dir="5400000" algn="t" rotWithShape="0">
                  <a:srgbClr val="3378C8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01E85262-66B3-F7F8-9F1E-AA76096D08EF}"/>
                  </a:ext>
                </a:extLst>
              </p:cNvPr>
              <p:cNvSpPr/>
              <p:nvPr/>
            </p:nvSpPr>
            <p:spPr>
              <a:xfrm>
                <a:off x="-1379124" y="660623"/>
                <a:ext cx="1177987" cy="407890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 dirty="0">
                    <a:latin typeface="+mj-lt"/>
                  </a:rPr>
                  <a:t>기대 효과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ACCF4B0-2B7D-B0A3-8670-8D34F1C50F8D}"/>
              </a:ext>
            </a:extLst>
          </p:cNvPr>
          <p:cNvGrpSpPr/>
          <p:nvPr/>
        </p:nvGrpSpPr>
        <p:grpSpPr>
          <a:xfrm>
            <a:off x="795563" y="1835359"/>
            <a:ext cx="5032767" cy="3894219"/>
            <a:chOff x="598359" y="1745408"/>
            <a:chExt cx="3361747" cy="3894219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9608802-15A0-3DBA-AAA9-B47BB87D9D1D}"/>
                </a:ext>
              </a:extLst>
            </p:cNvPr>
            <p:cNvSpPr/>
            <p:nvPr/>
          </p:nvSpPr>
          <p:spPr>
            <a:xfrm>
              <a:off x="598359" y="1950500"/>
              <a:ext cx="3361747" cy="3689127"/>
            </a:xfrm>
            <a:prstGeom prst="roundRect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C5D340F-B7F9-5017-BFF7-1D14EA576348}"/>
                </a:ext>
              </a:extLst>
            </p:cNvPr>
            <p:cNvGrpSpPr/>
            <p:nvPr/>
          </p:nvGrpSpPr>
          <p:grpSpPr>
            <a:xfrm>
              <a:off x="1549961" y="1745408"/>
              <a:ext cx="1396799" cy="407890"/>
              <a:chOff x="-1597936" y="660623"/>
              <a:chExt cx="1396799" cy="407890"/>
            </a:xfrm>
          </p:grpSpPr>
          <p:sp>
            <p:nvSpPr>
              <p:cNvPr id="17" name="Google Shape;244;p5">
                <a:extLst>
                  <a:ext uri="{FF2B5EF4-FFF2-40B4-BE49-F238E27FC236}">
                    <a16:creationId xmlns:a16="http://schemas.microsoft.com/office/drawing/2014/main" id="{F4B953E6-4C2E-2F89-670D-AC9C0A45D893}"/>
                  </a:ext>
                </a:extLst>
              </p:cNvPr>
              <p:cNvSpPr/>
              <p:nvPr/>
            </p:nvSpPr>
            <p:spPr>
              <a:xfrm>
                <a:off x="-1597936" y="779980"/>
                <a:ext cx="133940" cy="192355"/>
              </a:xfrm>
              <a:custGeom>
                <a:avLst/>
                <a:gdLst/>
                <a:ahLst/>
                <a:cxnLst/>
                <a:rect l="l" t="t" r="r" b="b"/>
                <a:pathLst>
                  <a:path w="450214" h="506845" extrusionOk="0">
                    <a:moveTo>
                      <a:pt x="428021" y="214932"/>
                    </a:moveTo>
                    <a:lnTo>
                      <a:pt x="66705" y="6045"/>
                    </a:lnTo>
                    <a:cubicBezTo>
                      <a:pt x="37072" y="-11108"/>
                      <a:pt x="0" y="10287"/>
                      <a:pt x="0" y="44511"/>
                    </a:cubicBezTo>
                    <a:lnTo>
                      <a:pt x="0" y="462326"/>
                    </a:lnTo>
                    <a:cubicBezTo>
                      <a:pt x="0" y="496550"/>
                      <a:pt x="37072" y="517945"/>
                      <a:pt x="66705" y="500812"/>
                    </a:cubicBezTo>
                    <a:lnTo>
                      <a:pt x="428021" y="291905"/>
                    </a:lnTo>
                    <a:cubicBezTo>
                      <a:pt x="457613" y="274793"/>
                      <a:pt x="457613" y="232064"/>
                      <a:pt x="428021" y="214932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  <a:effectLst>
                <a:outerShdw blurRad="50800" dist="38100" dir="5400000" algn="t" rotWithShape="0">
                  <a:srgbClr val="3378C8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D4DB747F-97E3-57FB-0853-E01F05C8AE37}"/>
                  </a:ext>
                </a:extLst>
              </p:cNvPr>
              <p:cNvSpPr/>
              <p:nvPr/>
            </p:nvSpPr>
            <p:spPr>
              <a:xfrm>
                <a:off x="-1379124" y="660623"/>
                <a:ext cx="1177987" cy="407890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500" b="1" dirty="0">
                    <a:latin typeface="+mj-lt"/>
                  </a:rPr>
                  <a:t>활용 방안</a:t>
                </a: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8B93414-50BF-BC28-D89C-77B5702D1370}"/>
              </a:ext>
            </a:extLst>
          </p:cNvPr>
          <p:cNvSpPr txBox="1"/>
          <p:nvPr/>
        </p:nvSpPr>
        <p:spPr>
          <a:xfrm>
            <a:off x="1524524" y="2770154"/>
            <a:ext cx="3414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아티스트 소속사 및 팬 커뮤니티 기반</a:t>
            </a:r>
            <a:endParaRPr lang="en-US" altLang="ko-KR" dirty="0"/>
          </a:p>
          <a:p>
            <a:pPr algn="ctr"/>
            <a:r>
              <a:rPr lang="en-US" altLang="ko-KR" b="1" dirty="0"/>
              <a:t>MD </a:t>
            </a:r>
            <a:r>
              <a:rPr lang="ko-KR" altLang="en-US" b="1" dirty="0"/>
              <a:t>상품 관리 플랫폼으로 활용가능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086506-398C-01CE-242B-691BA10C3AA4}"/>
              </a:ext>
            </a:extLst>
          </p:cNvPr>
          <p:cNvSpPr txBox="1"/>
          <p:nvPr/>
        </p:nvSpPr>
        <p:spPr>
          <a:xfrm>
            <a:off x="1549914" y="3694778"/>
            <a:ext cx="3485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콘텐츠</a:t>
            </a:r>
            <a:r>
              <a:rPr lang="en-US" altLang="ko-KR" dirty="0"/>
              <a:t>(</a:t>
            </a:r>
            <a:r>
              <a:rPr lang="en-US" altLang="ko-KR" dirty="0" err="1"/>
              <a:t>OpenAPI</a:t>
            </a:r>
            <a:r>
              <a:rPr lang="en-US" altLang="ko-KR" dirty="0"/>
              <a:t>)</a:t>
            </a:r>
            <a:r>
              <a:rPr lang="ko-KR" altLang="en-US" dirty="0"/>
              <a:t>와 커머스를 결합한</a:t>
            </a:r>
            <a:endParaRPr lang="en-US" altLang="ko-KR" dirty="0"/>
          </a:p>
          <a:p>
            <a:pPr algn="ctr"/>
            <a:r>
              <a:rPr lang="ko-KR" altLang="en-US" b="1" dirty="0"/>
              <a:t>엔터테인먼트 특화 웹 서비스로 확장 가능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8E9203-524B-9AE0-7E2F-7D9D4BFE20F4}"/>
              </a:ext>
            </a:extLst>
          </p:cNvPr>
          <p:cNvSpPr txBox="1"/>
          <p:nvPr/>
        </p:nvSpPr>
        <p:spPr>
          <a:xfrm>
            <a:off x="1498948" y="4519195"/>
            <a:ext cx="36439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소규모 </a:t>
            </a:r>
            <a:r>
              <a:rPr lang="ko-KR" altLang="en-US" dirty="0" err="1"/>
              <a:t>굿즈</a:t>
            </a:r>
            <a:r>
              <a:rPr lang="ko-KR" altLang="en-US" dirty="0"/>
              <a:t> 판매 및 재고 관리 시스템에</a:t>
            </a:r>
            <a:endParaRPr lang="en-US" altLang="ko-KR" dirty="0"/>
          </a:p>
          <a:p>
            <a:pPr algn="ctr"/>
            <a:r>
              <a:rPr lang="ko-KR" altLang="en-US" b="1" dirty="0"/>
              <a:t>실제 서비스 형태로 적용가능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F091CD-76A8-E6BB-5214-D47A4D81FB64}"/>
              </a:ext>
            </a:extLst>
          </p:cNvPr>
          <p:cNvSpPr txBox="1"/>
          <p:nvPr/>
        </p:nvSpPr>
        <p:spPr>
          <a:xfrm>
            <a:off x="6883072" y="2955843"/>
            <a:ext cx="42819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Spring MVC </a:t>
            </a:r>
            <a:r>
              <a:rPr lang="ko-KR" altLang="en-US" dirty="0"/>
              <a:t>기반 웹 서비스 구조 이해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OpenAPI</a:t>
            </a:r>
            <a:r>
              <a:rPr lang="en-US" altLang="ko-KR" dirty="0"/>
              <a:t> </a:t>
            </a:r>
            <a:r>
              <a:rPr lang="ko-KR" altLang="en-US" dirty="0"/>
              <a:t>연동을 통한 외부 데이터 활용 경험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옵션 상품 및 트랜잭션 기반 재고 관리 로직 학습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사용자 권한 분리를 통한 서비스 설계 경험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실무 관점의 웹 프로젝트 수행 능력 향상</a:t>
            </a:r>
          </a:p>
        </p:txBody>
      </p:sp>
    </p:spTree>
    <p:extLst>
      <p:ext uri="{BB962C8B-B14F-4D97-AF65-F5344CB8AC3E}">
        <p14:creationId xmlns:p14="http://schemas.microsoft.com/office/powerpoint/2010/main" val="4049278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6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24" name="Google Shape;324;p6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25" name="Google Shape;325;p6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6" name="Google Shape;326;p6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327" name="Google Shape;327;p6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4400" b="1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8" name="Google Shape;328;p6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6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30" name="Google Shape;330;p6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해당 프로젝트를 진행하면서 </a:t>
              </a:r>
              <a:r>
                <a:rPr lang="ko-KR" sz="18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별로 주도적으로 참여한 부분을 중심</a:t>
              </a: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으로 작성한다.</a:t>
              </a: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32" name="Google Shape;332;p6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p6"/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335" name="Google Shape;335;p6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name="adj" fmla="val 16667"/>
              </a:avLst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6" name="Google Shape;336;p6"/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프로젝트 운영 중 </a:t>
              </a:r>
              <a:r>
                <a:rPr lang="ko-KR" sz="1400" b="1">
                  <a:solidFill>
                    <a:srgbClr val="FFFF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멘토</a:t>
              </a:r>
              <a:r>
                <a:rPr lang="ko-KR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지원내역도 간략하게 작성 </a:t>
              </a:r>
              <a:endParaRPr sz="1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37" name="Google Shape;337;p6"/>
          <p:cNvGraphicFramePr/>
          <p:nvPr/>
        </p:nvGraphicFramePr>
        <p:xfrm>
          <a:off x="524518" y="2835223"/>
          <a:ext cx="11218275" cy="347931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4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44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i="0" u="none" strike="noStrike" cap="non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훈련생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78C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u="none" strike="noStrike" cap="non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업무</a:t>
                      </a: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78C8">
                        <a:alpha val="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i="0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윤상호</a:t>
                      </a:r>
                      <a:endParaRPr sz="1600" b="1" i="0" u="none" strike="noStrike" cap="none" dirty="0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1" i="0" u="none" strike="noStrike" cap="non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팀장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endParaRPr sz="160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ko-KR" altLang="en-US" sz="1600" b="1" i="0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김보경</a:t>
                      </a:r>
                      <a:endParaRPr sz="1600" b="1" i="0" u="none" strike="noStrike" cap="none" dirty="0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1" i="0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sz="1600" b="1" i="0" u="none" strike="noStrike" cap="none" dirty="0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endParaRPr sz="160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76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ko-KR" altLang="en-US" sz="1600" b="1" i="0" u="none" strike="noStrike" cap="none" dirty="0" err="1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sym typeface="Malgun Gothic"/>
                        </a:rPr>
                        <a:t>황장욱</a:t>
                      </a: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sz="1600" b="1" i="0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endParaRPr sz="1600" b="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3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ko-KR" altLang="en-US" sz="1600" b="1" i="0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sym typeface="Malgun Gothic"/>
                        </a:rPr>
                        <a:t>정준영</a:t>
                      </a: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altLang="en-US" sz="1600" b="1" i="0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sym typeface="Malgun Gothic"/>
                        </a:rPr>
                        <a:t>팀원</a:t>
                      </a: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endParaRPr sz="1600" b="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3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ko-KR" altLang="en-US" sz="1600" b="1" dirty="0"/>
                        <a:t>이상원</a:t>
                      </a:r>
                      <a:endParaRPr sz="1600" b="1" dirty="0"/>
                    </a:p>
                  </a:txBody>
                  <a:tcPr marL="91450" marR="91450" marT="45750" marB="4575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ko-KR" altLang="en-US" sz="1600" b="1" dirty="0"/>
                        <a:t>팀원</a:t>
                      </a:r>
                      <a:endParaRPr sz="1600" b="1" dirty="0"/>
                    </a:p>
                  </a:txBody>
                  <a:tcPr marL="91450" marR="91450" marT="45750" marB="4575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endParaRPr sz="1600" b="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307138"/>
                  </a:ext>
                </a:extLst>
              </a:tr>
            </a:tbl>
          </a:graphicData>
        </a:graphic>
      </p:graphicFrame>
      <p:pic>
        <p:nvPicPr>
          <p:cNvPr id="338" name="Google Shape;338;p6"/>
          <p:cNvPicPr preferRelativeResize="0"/>
          <p:nvPr/>
        </p:nvPicPr>
        <p:blipFill rotWithShape="1">
          <a:blip r:embed="rId5">
            <a:alphaModFix/>
          </a:blip>
          <a:srcRect l="34974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04453" y="6126651"/>
            <a:ext cx="109959" cy="1099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6"/>
          <p:cNvGrpSpPr/>
          <p:nvPr/>
        </p:nvGrpSpPr>
        <p:grpSpPr>
          <a:xfrm>
            <a:off x="4509543" y="3476159"/>
            <a:ext cx="2713128" cy="358635"/>
            <a:chOff x="4525872" y="3492488"/>
            <a:chExt cx="2713128" cy="358635"/>
          </a:xfrm>
        </p:grpSpPr>
        <p:sp>
          <p:nvSpPr>
            <p:cNvPr id="341" name="Google Shape;341;p6"/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3" name="Google Shape;343;p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6"/>
            <p:cNvSpPr txBox="1"/>
            <p:nvPr/>
          </p:nvSpPr>
          <p:spPr>
            <a:xfrm>
              <a:off x="5023036" y="3519045"/>
              <a:ext cx="1866568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lang="ko-KR" altLang="en-US" sz="1200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관리자업무 페이지구축</a:t>
              </a:r>
              <a:endParaRPr dirty="0"/>
            </a:p>
          </p:txBody>
        </p:sp>
      </p:grpSp>
      <p:grpSp>
        <p:nvGrpSpPr>
          <p:cNvPr id="345" name="Google Shape;345;p6"/>
          <p:cNvGrpSpPr/>
          <p:nvPr/>
        </p:nvGrpSpPr>
        <p:grpSpPr>
          <a:xfrm>
            <a:off x="7763167" y="3476159"/>
            <a:ext cx="2713128" cy="358635"/>
            <a:chOff x="7579407" y="3492488"/>
            <a:chExt cx="2713128" cy="358635"/>
          </a:xfrm>
        </p:grpSpPr>
        <p:sp>
          <p:nvSpPr>
            <p:cNvPr id="346" name="Google Shape;346;p6"/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6"/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12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 페이지</a:t>
              </a:r>
              <a:r>
                <a:rPr lang="ko-KR" sz="12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테스팅</a:t>
              </a:r>
              <a:endParaRPr sz="1200" b="1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49" name="Google Shape;349;p6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3" name="Google Shape;353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93097" y="4335700"/>
            <a:ext cx="216867" cy="1932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4" name="Google Shape;374;p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375" name="Google Shape;375;p6" descr="EMB0000378c3f3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6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7" name="Google Shape;377;p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6"/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rgbClr val="F2F2F2">
              <a:alpha val="5764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p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2700000">
            <a:off x="11833039" y="5062495"/>
            <a:ext cx="154011" cy="154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340;p6">
            <a:extLst>
              <a:ext uri="{FF2B5EF4-FFF2-40B4-BE49-F238E27FC236}">
                <a16:creationId xmlns:a16="http://schemas.microsoft.com/office/drawing/2014/main" id="{C6C6830F-5637-834F-3B0C-EE443A687F5E}"/>
              </a:ext>
            </a:extLst>
          </p:cNvPr>
          <p:cNvGrpSpPr/>
          <p:nvPr/>
        </p:nvGrpSpPr>
        <p:grpSpPr>
          <a:xfrm>
            <a:off x="4509543" y="4118974"/>
            <a:ext cx="2713128" cy="358635"/>
            <a:chOff x="4525872" y="3492488"/>
            <a:chExt cx="2713128" cy="358635"/>
          </a:xfrm>
        </p:grpSpPr>
        <p:sp>
          <p:nvSpPr>
            <p:cNvPr id="13" name="Google Shape;341;p6">
              <a:extLst>
                <a:ext uri="{FF2B5EF4-FFF2-40B4-BE49-F238E27FC236}">
                  <a16:creationId xmlns:a16="http://schemas.microsoft.com/office/drawing/2014/main" id="{E2591853-79FE-30E0-CFA1-B15A167EF676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342;p6">
              <a:extLst>
                <a:ext uri="{FF2B5EF4-FFF2-40B4-BE49-F238E27FC236}">
                  <a16:creationId xmlns:a16="http://schemas.microsoft.com/office/drawing/2014/main" id="{807D0619-4449-A12D-169B-0169B55B2038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" name="Google Shape;343;p6">
              <a:extLst>
                <a:ext uri="{FF2B5EF4-FFF2-40B4-BE49-F238E27FC236}">
                  <a16:creationId xmlns:a16="http://schemas.microsoft.com/office/drawing/2014/main" id="{39536D9E-01A3-9ED0-3EDA-5DB8AA5FDDB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344;p6">
              <a:extLst>
                <a:ext uri="{FF2B5EF4-FFF2-40B4-BE49-F238E27FC236}">
                  <a16:creationId xmlns:a16="http://schemas.microsoft.com/office/drawing/2014/main" id="{F41EB71E-1CDE-917C-FD8D-AC0925AB50B9}"/>
                </a:ext>
              </a:extLst>
            </p:cNvPr>
            <p:cNvSpPr txBox="1"/>
            <p:nvPr/>
          </p:nvSpPr>
          <p:spPr>
            <a:xfrm>
              <a:off x="5023036" y="3519045"/>
              <a:ext cx="2215964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lang="ko-KR" altLang="en-US" sz="1200" b="1" dirty="0">
                  <a:solidFill>
                    <a:srgbClr val="3A3838"/>
                  </a:solidFill>
                  <a:latin typeface="Malgun Gothic"/>
                  <a:ea typeface="Malgun Gothic"/>
                  <a:sym typeface="Malgun Gothic"/>
                </a:rPr>
                <a:t>스토어 페이지 및 상품관리</a:t>
              </a:r>
              <a:endParaRPr dirty="0"/>
            </a:p>
          </p:txBody>
        </p:sp>
      </p:grpSp>
      <p:grpSp>
        <p:nvGrpSpPr>
          <p:cNvPr id="17" name="Google Shape;340;p6">
            <a:extLst>
              <a:ext uri="{FF2B5EF4-FFF2-40B4-BE49-F238E27FC236}">
                <a16:creationId xmlns:a16="http://schemas.microsoft.com/office/drawing/2014/main" id="{9C615823-5699-3344-57BC-184E465BB7B7}"/>
              </a:ext>
            </a:extLst>
          </p:cNvPr>
          <p:cNvGrpSpPr/>
          <p:nvPr/>
        </p:nvGrpSpPr>
        <p:grpSpPr>
          <a:xfrm>
            <a:off x="4509542" y="4729225"/>
            <a:ext cx="3814312" cy="358635"/>
            <a:chOff x="4525872" y="3492488"/>
            <a:chExt cx="3155035" cy="358635"/>
          </a:xfrm>
        </p:grpSpPr>
        <p:sp>
          <p:nvSpPr>
            <p:cNvPr id="18" name="Google Shape;341;p6">
              <a:extLst>
                <a:ext uri="{FF2B5EF4-FFF2-40B4-BE49-F238E27FC236}">
                  <a16:creationId xmlns:a16="http://schemas.microsoft.com/office/drawing/2014/main" id="{693529A4-0AE8-0A1D-A00F-A09ED67E8D9D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342;p6">
              <a:extLst>
                <a:ext uri="{FF2B5EF4-FFF2-40B4-BE49-F238E27FC236}">
                  <a16:creationId xmlns:a16="http://schemas.microsoft.com/office/drawing/2014/main" id="{3DC20928-BED3-C601-D6B2-028653E40B36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" name="Google Shape;343;p6">
              <a:extLst>
                <a:ext uri="{FF2B5EF4-FFF2-40B4-BE49-F238E27FC236}">
                  <a16:creationId xmlns:a16="http://schemas.microsoft.com/office/drawing/2014/main" id="{9A71A59F-D6F6-1CF7-A46F-B65EEEF874BD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344;p6">
              <a:extLst>
                <a:ext uri="{FF2B5EF4-FFF2-40B4-BE49-F238E27FC236}">
                  <a16:creationId xmlns:a16="http://schemas.microsoft.com/office/drawing/2014/main" id="{2CBA350C-4206-246A-49AB-BEE40CEBB6D8}"/>
                </a:ext>
              </a:extLst>
            </p:cNvPr>
            <p:cNvSpPr txBox="1"/>
            <p:nvPr/>
          </p:nvSpPr>
          <p:spPr>
            <a:xfrm>
              <a:off x="4936899" y="3517937"/>
              <a:ext cx="2744008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lang="en-US" dirty="0"/>
                <a:t>API</a:t>
              </a:r>
              <a:r>
                <a:rPr lang="ko-KR" altLang="en-US" dirty="0"/>
                <a:t>를 활용한 뮤지션 페이지 구축</a:t>
              </a:r>
              <a:endParaRPr dirty="0"/>
            </a:p>
          </p:txBody>
        </p:sp>
      </p:grpSp>
      <p:grpSp>
        <p:nvGrpSpPr>
          <p:cNvPr id="22" name="Google Shape;340;p6">
            <a:extLst>
              <a:ext uri="{FF2B5EF4-FFF2-40B4-BE49-F238E27FC236}">
                <a16:creationId xmlns:a16="http://schemas.microsoft.com/office/drawing/2014/main" id="{BFCAEF30-E433-CEB0-0B87-0A6CCEA6FA9C}"/>
              </a:ext>
            </a:extLst>
          </p:cNvPr>
          <p:cNvGrpSpPr/>
          <p:nvPr/>
        </p:nvGrpSpPr>
        <p:grpSpPr>
          <a:xfrm>
            <a:off x="4509542" y="5235655"/>
            <a:ext cx="2713128" cy="358635"/>
            <a:chOff x="4525872" y="3492488"/>
            <a:chExt cx="2713128" cy="358635"/>
          </a:xfrm>
        </p:grpSpPr>
        <p:sp>
          <p:nvSpPr>
            <p:cNvPr id="23" name="Google Shape;341;p6">
              <a:extLst>
                <a:ext uri="{FF2B5EF4-FFF2-40B4-BE49-F238E27FC236}">
                  <a16:creationId xmlns:a16="http://schemas.microsoft.com/office/drawing/2014/main" id="{738BC847-496F-63BE-7013-6664DA0ED60C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342;p6">
              <a:extLst>
                <a:ext uri="{FF2B5EF4-FFF2-40B4-BE49-F238E27FC236}">
                  <a16:creationId xmlns:a16="http://schemas.microsoft.com/office/drawing/2014/main" id="{86344C79-6209-D6DE-5E9C-EE536EA93666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" name="Google Shape;343;p6">
              <a:extLst>
                <a:ext uri="{FF2B5EF4-FFF2-40B4-BE49-F238E27FC236}">
                  <a16:creationId xmlns:a16="http://schemas.microsoft.com/office/drawing/2014/main" id="{060BFFF5-6D61-8751-50B2-1F2A1862FC09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344;p6">
              <a:extLst>
                <a:ext uri="{FF2B5EF4-FFF2-40B4-BE49-F238E27FC236}">
                  <a16:creationId xmlns:a16="http://schemas.microsoft.com/office/drawing/2014/main" id="{590DDE53-894C-0B2C-2BDB-7B719A387336}"/>
                </a:ext>
              </a:extLst>
            </p:cNvPr>
            <p:cNvSpPr txBox="1"/>
            <p:nvPr/>
          </p:nvSpPr>
          <p:spPr>
            <a:xfrm>
              <a:off x="5023036" y="3519045"/>
              <a:ext cx="2215964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lang="ko-KR" altLang="en-US" dirty="0"/>
                <a:t>공지사항 및 게시판 구축</a:t>
              </a:r>
              <a:endParaRPr dirty="0"/>
            </a:p>
          </p:txBody>
        </p:sp>
      </p:grpSp>
      <p:grpSp>
        <p:nvGrpSpPr>
          <p:cNvPr id="27" name="Google Shape;340;p6">
            <a:extLst>
              <a:ext uri="{FF2B5EF4-FFF2-40B4-BE49-F238E27FC236}">
                <a16:creationId xmlns:a16="http://schemas.microsoft.com/office/drawing/2014/main" id="{8AC792F5-B261-649E-50BA-537FEAABBEB4}"/>
              </a:ext>
            </a:extLst>
          </p:cNvPr>
          <p:cNvGrpSpPr/>
          <p:nvPr/>
        </p:nvGrpSpPr>
        <p:grpSpPr>
          <a:xfrm>
            <a:off x="4498655" y="5774559"/>
            <a:ext cx="2713128" cy="358635"/>
            <a:chOff x="4525872" y="3492488"/>
            <a:chExt cx="2713128" cy="358635"/>
          </a:xfrm>
        </p:grpSpPr>
        <p:sp>
          <p:nvSpPr>
            <p:cNvPr id="28" name="Google Shape;341;p6">
              <a:extLst>
                <a:ext uri="{FF2B5EF4-FFF2-40B4-BE49-F238E27FC236}">
                  <a16:creationId xmlns:a16="http://schemas.microsoft.com/office/drawing/2014/main" id="{48447F46-3B01-EF97-F321-BF15CEB717B6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42;p6">
              <a:extLst>
                <a:ext uri="{FF2B5EF4-FFF2-40B4-BE49-F238E27FC236}">
                  <a16:creationId xmlns:a16="http://schemas.microsoft.com/office/drawing/2014/main" id="{700E1A3D-702E-9BCA-A86A-EB535E812EFE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" name="Google Shape;343;p6">
              <a:extLst>
                <a:ext uri="{FF2B5EF4-FFF2-40B4-BE49-F238E27FC236}">
                  <a16:creationId xmlns:a16="http://schemas.microsoft.com/office/drawing/2014/main" id="{BE4D6BEB-A42F-D3A5-B77C-28BCB1433427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344;p6">
              <a:extLst>
                <a:ext uri="{FF2B5EF4-FFF2-40B4-BE49-F238E27FC236}">
                  <a16:creationId xmlns:a16="http://schemas.microsoft.com/office/drawing/2014/main" id="{B613220C-92CC-673C-7FC6-B94128985DA5}"/>
                </a:ext>
              </a:extLst>
            </p:cNvPr>
            <p:cNvSpPr txBox="1"/>
            <p:nvPr/>
          </p:nvSpPr>
          <p:spPr>
            <a:xfrm>
              <a:off x="5023036" y="3519045"/>
              <a:ext cx="2215964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lang="ko-KR" altLang="en-US" dirty="0"/>
                <a:t>커뮤니티 게시판 구축</a:t>
              </a:r>
              <a:endParaRPr dirty="0"/>
            </a:p>
          </p:txBody>
        </p:sp>
      </p:grpSp>
      <p:grpSp>
        <p:nvGrpSpPr>
          <p:cNvPr id="32" name="Google Shape;345;p6">
            <a:extLst>
              <a:ext uri="{FF2B5EF4-FFF2-40B4-BE49-F238E27FC236}">
                <a16:creationId xmlns:a16="http://schemas.microsoft.com/office/drawing/2014/main" id="{40FA23DA-59E9-572E-46CE-9EC896FE95F0}"/>
              </a:ext>
            </a:extLst>
          </p:cNvPr>
          <p:cNvGrpSpPr/>
          <p:nvPr/>
        </p:nvGrpSpPr>
        <p:grpSpPr>
          <a:xfrm>
            <a:off x="8047130" y="4703775"/>
            <a:ext cx="2713128" cy="358635"/>
            <a:chOff x="7579407" y="3492488"/>
            <a:chExt cx="2713128" cy="358635"/>
          </a:xfrm>
        </p:grpSpPr>
        <p:sp>
          <p:nvSpPr>
            <p:cNvPr id="33" name="Google Shape;346;p6">
              <a:extLst>
                <a:ext uri="{FF2B5EF4-FFF2-40B4-BE49-F238E27FC236}">
                  <a16:creationId xmlns:a16="http://schemas.microsoft.com/office/drawing/2014/main" id="{E634238F-7486-D193-42D3-6176E02E084E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7;p6">
              <a:extLst>
                <a:ext uri="{FF2B5EF4-FFF2-40B4-BE49-F238E27FC236}">
                  <a16:creationId xmlns:a16="http://schemas.microsoft.com/office/drawing/2014/main" id="{6B076D24-5217-669B-0E8D-F881DC3766C6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48;p6">
              <a:extLst>
                <a:ext uri="{FF2B5EF4-FFF2-40B4-BE49-F238E27FC236}">
                  <a16:creationId xmlns:a16="http://schemas.microsoft.com/office/drawing/2014/main" id="{8DD7ACB1-A2CD-BF05-F0AC-2B7DFE814408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</a:t>
              </a:r>
              <a:r>
                <a:rPr lang="ko-KR" altLang="en-US" sz="12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테이블 구상</a:t>
              </a:r>
              <a:endParaRPr sz="1200" b="1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" name="Google Shape;349;p6">
              <a:extLst>
                <a:ext uri="{FF2B5EF4-FFF2-40B4-BE49-F238E27FC236}">
                  <a16:creationId xmlns:a16="http://schemas.microsoft.com/office/drawing/2014/main" id="{8B83595B-0011-FDF3-C7B1-C1501E26A6A0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" name="Google Shape;345;p6">
            <a:extLst>
              <a:ext uri="{FF2B5EF4-FFF2-40B4-BE49-F238E27FC236}">
                <a16:creationId xmlns:a16="http://schemas.microsoft.com/office/drawing/2014/main" id="{4613A5A6-2B27-B560-B35A-98BBACE1917D}"/>
              </a:ext>
            </a:extLst>
          </p:cNvPr>
          <p:cNvGrpSpPr/>
          <p:nvPr/>
        </p:nvGrpSpPr>
        <p:grpSpPr>
          <a:xfrm>
            <a:off x="7756664" y="4089499"/>
            <a:ext cx="2713128" cy="358635"/>
            <a:chOff x="7579407" y="3492488"/>
            <a:chExt cx="2713128" cy="358635"/>
          </a:xfrm>
        </p:grpSpPr>
        <p:sp>
          <p:nvSpPr>
            <p:cNvPr id="38" name="Google Shape;346;p6">
              <a:extLst>
                <a:ext uri="{FF2B5EF4-FFF2-40B4-BE49-F238E27FC236}">
                  <a16:creationId xmlns:a16="http://schemas.microsoft.com/office/drawing/2014/main" id="{9AADB574-B1ED-F057-44FA-F5A1E560C202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47;p6">
              <a:extLst>
                <a:ext uri="{FF2B5EF4-FFF2-40B4-BE49-F238E27FC236}">
                  <a16:creationId xmlns:a16="http://schemas.microsoft.com/office/drawing/2014/main" id="{280EA02F-995E-A646-4CB6-982E076B815D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348;p6">
              <a:extLst>
                <a:ext uri="{FF2B5EF4-FFF2-40B4-BE49-F238E27FC236}">
                  <a16:creationId xmlns:a16="http://schemas.microsoft.com/office/drawing/2014/main" id="{0596A3E7-7C88-4B32-2AD1-61DC10552665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API</a:t>
              </a:r>
              <a:r>
                <a:rPr lang="ko-KR" altLang="en-US" sz="12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이용한 결제 구축</a:t>
              </a:r>
              <a:endParaRPr sz="1200" b="1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41" name="Google Shape;349;p6">
              <a:extLst>
                <a:ext uri="{FF2B5EF4-FFF2-40B4-BE49-F238E27FC236}">
                  <a16:creationId xmlns:a16="http://schemas.microsoft.com/office/drawing/2014/main" id="{B36812AB-BA87-50E2-516E-E49CC176780C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" name="Google Shape;345;p6">
            <a:extLst>
              <a:ext uri="{FF2B5EF4-FFF2-40B4-BE49-F238E27FC236}">
                <a16:creationId xmlns:a16="http://schemas.microsoft.com/office/drawing/2014/main" id="{53CDF091-2729-9880-073B-51223A0C5A23}"/>
              </a:ext>
            </a:extLst>
          </p:cNvPr>
          <p:cNvGrpSpPr/>
          <p:nvPr/>
        </p:nvGrpSpPr>
        <p:grpSpPr>
          <a:xfrm>
            <a:off x="7760092" y="5262212"/>
            <a:ext cx="2713128" cy="358635"/>
            <a:chOff x="7579407" y="3492488"/>
            <a:chExt cx="2713128" cy="358635"/>
          </a:xfrm>
        </p:grpSpPr>
        <p:sp>
          <p:nvSpPr>
            <p:cNvPr id="43" name="Google Shape;346;p6">
              <a:extLst>
                <a:ext uri="{FF2B5EF4-FFF2-40B4-BE49-F238E27FC236}">
                  <a16:creationId xmlns:a16="http://schemas.microsoft.com/office/drawing/2014/main" id="{3874F8B4-E6EA-AC2D-2A8A-D9643F3818FC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347;p6">
              <a:extLst>
                <a:ext uri="{FF2B5EF4-FFF2-40B4-BE49-F238E27FC236}">
                  <a16:creationId xmlns:a16="http://schemas.microsoft.com/office/drawing/2014/main" id="{9A4086C3-0048-A982-B0DD-8575DFDD9489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348;p6">
              <a:extLst>
                <a:ext uri="{FF2B5EF4-FFF2-40B4-BE49-F238E27FC236}">
                  <a16:creationId xmlns:a16="http://schemas.microsoft.com/office/drawing/2014/main" id="{824D9D64-BA32-5B66-ED6E-F3240D81565A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</a:t>
              </a:r>
              <a:r>
                <a:rPr lang="ko-KR" altLang="en-US" sz="12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테이블 구상</a:t>
              </a:r>
              <a:endParaRPr sz="1200" b="1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46" name="Google Shape;349;p6">
              <a:extLst>
                <a:ext uri="{FF2B5EF4-FFF2-40B4-BE49-F238E27FC236}">
                  <a16:creationId xmlns:a16="http://schemas.microsoft.com/office/drawing/2014/main" id="{6BDEAA34-E6DB-624C-A895-6390E09B8E16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" name="Google Shape;345;p6">
            <a:extLst>
              <a:ext uri="{FF2B5EF4-FFF2-40B4-BE49-F238E27FC236}">
                <a16:creationId xmlns:a16="http://schemas.microsoft.com/office/drawing/2014/main" id="{62914F2D-155F-611F-317C-098629A5767E}"/>
              </a:ext>
            </a:extLst>
          </p:cNvPr>
          <p:cNvGrpSpPr/>
          <p:nvPr/>
        </p:nvGrpSpPr>
        <p:grpSpPr>
          <a:xfrm>
            <a:off x="7750340" y="5820649"/>
            <a:ext cx="2713128" cy="358635"/>
            <a:chOff x="7579407" y="3492488"/>
            <a:chExt cx="2713128" cy="358635"/>
          </a:xfrm>
        </p:grpSpPr>
        <p:sp>
          <p:nvSpPr>
            <p:cNvPr id="48" name="Google Shape;346;p6">
              <a:extLst>
                <a:ext uri="{FF2B5EF4-FFF2-40B4-BE49-F238E27FC236}">
                  <a16:creationId xmlns:a16="http://schemas.microsoft.com/office/drawing/2014/main" id="{3EC8A825-4163-B826-65E1-6048629A3706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347;p6">
              <a:extLst>
                <a:ext uri="{FF2B5EF4-FFF2-40B4-BE49-F238E27FC236}">
                  <a16:creationId xmlns:a16="http://schemas.microsoft.com/office/drawing/2014/main" id="{A583F190-04FF-E289-AEF6-BE4A239C3365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348;p6">
              <a:extLst>
                <a:ext uri="{FF2B5EF4-FFF2-40B4-BE49-F238E27FC236}">
                  <a16:creationId xmlns:a16="http://schemas.microsoft.com/office/drawing/2014/main" id="{8A4718DF-3367-7C46-B0A1-6CDE14209E4C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DB </a:t>
              </a:r>
              <a:r>
                <a:rPr lang="ko-KR" altLang="en-US" sz="1200" b="1" dirty="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테이블 구상</a:t>
              </a:r>
              <a:endParaRPr sz="1200" b="1" dirty="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51" name="Google Shape;349;p6">
              <a:extLst>
                <a:ext uri="{FF2B5EF4-FFF2-40B4-BE49-F238E27FC236}">
                  <a16:creationId xmlns:a16="http://schemas.microsoft.com/office/drawing/2014/main" id="{999137D4-D2FB-727E-F510-AFC4F6D55271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7"/>
          <p:cNvPicPr preferRelativeResize="0"/>
          <p:nvPr/>
        </p:nvPicPr>
        <p:blipFill rotWithShape="1">
          <a:blip r:embed="rId4">
            <a:alphaModFix/>
          </a:blip>
          <a:srcRect t="4365" r="36132"/>
          <a:stretch/>
        </p:blipFill>
        <p:spPr>
          <a:xfrm rot="-5400000" flipH="1">
            <a:off x="-70596" y="5743970"/>
            <a:ext cx="1184627" cy="104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7"/>
          <p:cNvPicPr preferRelativeResize="0"/>
          <p:nvPr/>
        </p:nvPicPr>
        <p:blipFill rotWithShape="1">
          <a:blip r:embed="rId5">
            <a:alphaModFix/>
          </a:blip>
          <a:srcRect r="16078" b="36588"/>
          <a:stretch/>
        </p:blipFill>
        <p:spPr>
          <a:xfrm rot="-5400000">
            <a:off x="8716891" y="2969799"/>
            <a:ext cx="4528064" cy="242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7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88" name="Google Shape;388;p7"/>
          <p:cNvGrpSpPr/>
          <p:nvPr/>
        </p:nvGrpSpPr>
        <p:grpSpPr>
          <a:xfrm>
            <a:off x="376102" y="356756"/>
            <a:ext cx="5948498" cy="831300"/>
            <a:chOff x="376102" y="333243"/>
            <a:chExt cx="5948498" cy="831300"/>
          </a:xfrm>
        </p:grpSpPr>
        <p:sp>
          <p:nvSpPr>
            <p:cNvPr id="389" name="Google Shape;389;p7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0" name="Google Shape;390;p7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391" name="Google Shape;391;p7"/>
            <p:cNvSpPr txBox="1"/>
            <p:nvPr/>
          </p:nvSpPr>
          <p:spPr>
            <a:xfrm>
              <a:off x="376102" y="333243"/>
              <a:ext cx="1266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4400" b="1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2" name="Google Shape;392;p7"/>
          <p:cNvPicPr preferRelativeResize="0"/>
          <p:nvPr/>
        </p:nvPicPr>
        <p:blipFill rotWithShape="1">
          <a:blip r:embed="rId6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7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94" name="Google Shape;394;p7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프로젝트의 </a:t>
              </a:r>
              <a:r>
                <a:rPr lang="ko-KR" sz="18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</a:t>
              </a: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</a:t>
              </a:r>
              <a:r>
                <a:rPr lang="ko-KR" sz="18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및 완료 </a:t>
              </a: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과정으로 나누어서 작성한다. </a:t>
              </a:r>
              <a:endParaRPr/>
            </a:p>
          </p:txBody>
        </p:sp>
        <p:sp>
          <p:nvSpPr>
            <p:cNvPr id="395" name="Google Shape;395;p7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96" name="Google Shape;396;p7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397" name="Google Shape;397;p7" descr="EMB0000378c3f3d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" name="Google Shape;398;p7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9" name="Google Shape;399;p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7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2" name="Google Shape;402;p7"/>
          <p:cNvGraphicFramePr/>
          <p:nvPr/>
        </p:nvGraphicFramePr>
        <p:xfrm>
          <a:off x="524528" y="2057400"/>
          <a:ext cx="11218275" cy="450480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9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20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u="none" strike="noStrike" cap="non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78C8">
                        <a:alpha val="2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기간</a:t>
                      </a: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</a:t>
                      </a: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78C8">
                        <a:alpha val="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ko-KR" sz="1600" b="1" i="0" u="none" strike="noStrike" cap="non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78C8">
                        <a:alpha val="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5323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사전 기획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/ </a:t>
                      </a:r>
                      <a:r>
                        <a:rPr lang="ko-KR" altLang="en-US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</a:t>
                      </a:r>
                      <a:endParaRPr sz="1200" b="1" u="none" strike="noStrike" cap="none" dirty="0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~ 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(금)</a:t>
                      </a:r>
                      <a:endParaRPr dirty="0"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프로젝트 기획  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주제 선정 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상세 기능 명세서 정리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 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기능 분담</a:t>
                      </a:r>
                      <a:endParaRPr lang="en-US" altLang="ko-KR" sz="120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Tx/>
                        <a:buChar char="-"/>
                      </a:pP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외부데이터 수집 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 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테이블 구상 및 작성 </a:t>
                      </a:r>
                      <a:endParaRPr lang="en-US" altLang="ko-KR" sz="120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 선정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/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사용가능 오픈</a:t>
                      </a:r>
                      <a:r>
                        <a:rPr lang="en-US" altLang="ko-KR" sz="14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 </a:t>
                      </a:r>
                      <a:r>
                        <a:rPr lang="ko-KR" altLang="en-US" sz="14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endParaRPr dirty="0"/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378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37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endParaRPr dirty="0"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endParaRPr sz="140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기능구현에 필요한 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 </a:t>
                      </a:r>
                      <a:r>
                        <a:rPr lang="ko-KR" altLang="en-US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테이블 구상 및 작성</a:t>
                      </a:r>
                      <a:endParaRPr sz="1200" b="1" u="none" strike="noStrike" cap="none" dirty="0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2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dirty="0"/>
                        <a:t>기능 구현 </a:t>
                      </a:r>
                      <a:endParaRPr dirty="0"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월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~ 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16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(금)</a:t>
                      </a:r>
                      <a:endParaRPr sz="1200" dirty="0"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회원 가입 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로그인 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STORE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페이지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회원관리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 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게시판 관리 페이지 구현</a:t>
                      </a:r>
                      <a:endParaRPr sz="120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ko-KR" altLang="en-US" sz="14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주차 보고 실시</a:t>
                      </a:r>
                      <a:endParaRPr sz="140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3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altLang="en-US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구현</a:t>
                      </a:r>
                      <a:endParaRPr sz="1200" b="1" u="none" strike="noStrike" cap="none" dirty="0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19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(월) ~ 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23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(금)</a:t>
                      </a:r>
                      <a:endParaRPr dirty="0"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ARTIST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페이지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상품관리 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STORE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상세 페이지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상품관리 등록</a:t>
                      </a:r>
                      <a:r>
                        <a:rPr lang="en-US" altLang="ko-KR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ko-KR" altLang="en-US" sz="120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수정페이지 구현</a:t>
                      </a:r>
                      <a:endParaRPr sz="120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팀별 중간보고 실시</a:t>
                      </a:r>
                      <a:endParaRPr dirty="0"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2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u="none" strike="noStrike" cap="non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구축</a:t>
                      </a:r>
                      <a:endParaRPr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26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(월) ~ 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28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dirty="0"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ko-KR" altLang="en-US" sz="1400" b="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모든 기능 구현 </a:t>
                      </a:r>
                      <a:r>
                        <a:rPr lang="en-US" altLang="ko-KR" sz="1400" b="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rPr lang="ko-KR" altLang="en-US" sz="1400" b="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추가적인 기능 필요시 구현</a:t>
                      </a:r>
                      <a:r>
                        <a:rPr lang="en-US" altLang="ko-KR" sz="1400" b="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/ </a:t>
                      </a:r>
                      <a:r>
                        <a:rPr lang="ko-KR" altLang="en-US" sz="1400" b="0" i="0" u="none" strike="noStrike" cap="none" dirty="0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보고서 작성</a:t>
                      </a:r>
                      <a:endParaRPr sz="1400" b="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lgDash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최적화, 오류 수정</a:t>
                      </a:r>
                      <a:endParaRPr dirty="0"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521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총 개발기간</a:t>
                      </a:r>
                      <a:endParaRPr dirty="0"/>
                    </a:p>
                  </a:txBody>
                  <a:tcPr marL="84925" marR="84925" marT="42475" marB="424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 ~ 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28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)(총 </a:t>
                      </a:r>
                      <a:r>
                        <a:rPr lang="en-US" alt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sz="1200" b="1" u="none" strike="noStrike" cap="none" dirty="0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주)</a:t>
                      </a:r>
                      <a:endParaRPr dirty="0"/>
                    </a:p>
                  </a:txBody>
                  <a:tcPr marL="33425" marR="3925" marT="3925" marB="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F9">
                        <a:alpha val="2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endParaRPr sz="1400" b="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lg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endParaRPr sz="1400" b="0" i="0" u="none" strike="noStrike" cap="none" dirty="0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50" marB="45750" anchor="ctr">
                    <a:lnL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03" name="Google Shape;403;p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79625" y="5477900"/>
            <a:ext cx="124936" cy="124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b96e8a2366_0_6"/>
          <p:cNvSpPr txBox="1"/>
          <p:nvPr/>
        </p:nvSpPr>
        <p:spPr>
          <a:xfrm>
            <a:off x="411775" y="4229850"/>
            <a:ext cx="12444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5" name="Google Shape;465;g3b96e8a2366_0_6"/>
          <p:cNvSpPr txBox="1"/>
          <p:nvPr/>
        </p:nvSpPr>
        <p:spPr>
          <a:xfrm>
            <a:off x="311875" y="4381275"/>
            <a:ext cx="126441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아래의 내용이 포함되도록 하세요 ( 할 수 있는것만 하세요)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lgun Gothic"/>
              <a:buChar char="-"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유즈케이스다이어그램 / 플로우챠트 / 스토리보드/ 와이어프레임등의 내용 작성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algun Gothic"/>
              <a:buChar char="-"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 작성</a:t>
            </a:r>
            <a:endParaRPr sz="1900"/>
          </a:p>
        </p:txBody>
      </p:sp>
      <p:sp>
        <p:nvSpPr>
          <p:cNvPr id="466" name="Google Shape;466;g3b96e8a2366_0_6"/>
          <p:cNvSpPr txBox="1"/>
          <p:nvPr/>
        </p:nvSpPr>
        <p:spPr>
          <a:xfrm>
            <a:off x="744825" y="581350"/>
            <a:ext cx="10729800" cy="3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사전기획에 해당하는 부분을 작성해 주시면 되고 예상 기간을 작성해 주세요.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예시)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프로젝트 사전 기획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요구사항 도출 및 기능 정의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유스케이스 다이어그램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시스템 아키텍처 설계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데이터베이스 설계 (ERD)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화면 설계 (와이어프레임)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서비스구축</a:t>
            </a: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총개발기간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E21015-342E-A9D6-7809-F60A43AD3138}"/>
              </a:ext>
            </a:extLst>
          </p:cNvPr>
          <p:cNvSpPr txBox="1"/>
          <p:nvPr/>
        </p:nvSpPr>
        <p:spPr>
          <a:xfrm>
            <a:off x="2772" y="258901"/>
            <a:ext cx="6093228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1조 요구 사항 분석서서</a:t>
            </a:r>
          </a:p>
          <a:p>
            <a:endParaRPr lang="ko-KR" altLang="en-US" dirty="0"/>
          </a:p>
          <a:p>
            <a:r>
              <a:rPr lang="ko-KR" altLang="en-US" dirty="0"/>
              <a:t>1. 프로젝트 개요</a:t>
            </a:r>
          </a:p>
          <a:p>
            <a:r>
              <a:rPr lang="ko-KR" altLang="en-US" dirty="0"/>
              <a:t>프로젝트명</a:t>
            </a:r>
          </a:p>
          <a:p>
            <a:r>
              <a:rPr lang="ko-KR" altLang="en-US" dirty="0" err="1"/>
              <a:t>OpenAPI</a:t>
            </a:r>
            <a:r>
              <a:rPr lang="ko-KR" altLang="en-US" dirty="0"/>
              <a:t> 및 MVC 기반 뮤지션 소속사 &amp; MD 재고관리 플랫폼</a:t>
            </a:r>
          </a:p>
          <a:p>
            <a:r>
              <a:rPr lang="ko-KR" altLang="en-US" dirty="0"/>
              <a:t>프로젝트 주제</a:t>
            </a:r>
          </a:p>
          <a:p>
            <a:r>
              <a:rPr lang="ko-KR" altLang="en-US" dirty="0" err="1"/>
              <a:t>OpenAPI를</a:t>
            </a:r>
            <a:r>
              <a:rPr lang="ko-KR" altLang="en-US" dirty="0"/>
              <a:t> 활용해 뮤지션 정보를 제공하고, MD 상품의 </a:t>
            </a:r>
            <a:r>
              <a:rPr lang="ko-KR" altLang="en-US" dirty="0" err="1"/>
              <a:t>주문·재고를</a:t>
            </a:r>
            <a:r>
              <a:rPr lang="ko-KR" altLang="en-US" dirty="0"/>
              <a:t> 트랜잭션으로</a:t>
            </a:r>
          </a:p>
          <a:p>
            <a:r>
              <a:rPr lang="ko-KR" altLang="en-US" dirty="0"/>
              <a:t>관리하는 MVC 기반 엔터테인먼트 재고관리 웹 플랫폼</a:t>
            </a:r>
          </a:p>
          <a:p>
            <a:r>
              <a:rPr lang="ko-KR" altLang="en-US" dirty="0"/>
              <a:t>개발 환경</a:t>
            </a:r>
          </a:p>
          <a:p>
            <a:r>
              <a:rPr lang="ko-KR" altLang="en-US" dirty="0"/>
              <a:t>● </a:t>
            </a:r>
            <a:r>
              <a:rPr lang="ko-KR" altLang="en-US" dirty="0" err="1"/>
              <a:t>Language</a:t>
            </a:r>
            <a:r>
              <a:rPr lang="ko-KR" altLang="en-US" dirty="0"/>
              <a:t>: </a:t>
            </a:r>
            <a:r>
              <a:rPr lang="ko-KR" altLang="en-US" dirty="0" err="1"/>
              <a:t>Java</a:t>
            </a:r>
            <a:endParaRPr lang="ko-KR" altLang="en-US" dirty="0"/>
          </a:p>
          <a:p>
            <a:r>
              <a:rPr lang="ko-KR" altLang="en-US" dirty="0"/>
              <a:t>● DB: Oracle / SQL</a:t>
            </a:r>
          </a:p>
          <a:p>
            <a:r>
              <a:rPr lang="ko-KR" altLang="en-US" dirty="0"/>
              <a:t>● IDE: </a:t>
            </a:r>
            <a:r>
              <a:rPr lang="ko-KR" altLang="en-US" dirty="0" err="1"/>
              <a:t>IntelliJ</a:t>
            </a:r>
            <a:endParaRPr lang="ko-KR" altLang="en-US" dirty="0"/>
          </a:p>
          <a:p>
            <a:r>
              <a:rPr lang="ko-KR" altLang="en-US" dirty="0"/>
              <a:t>● </a:t>
            </a:r>
            <a:r>
              <a:rPr lang="ko-KR" altLang="en-US" dirty="0" err="1"/>
              <a:t>Architecture</a:t>
            </a:r>
            <a:r>
              <a:rPr lang="ko-KR" altLang="en-US" dirty="0"/>
              <a:t>: MVC 패턴</a:t>
            </a:r>
          </a:p>
          <a:p>
            <a:r>
              <a:rPr lang="ko-KR" altLang="en-US" dirty="0"/>
              <a:t>● 인증 방식: 세션 기반 로그인</a:t>
            </a:r>
          </a:p>
          <a:p>
            <a:endParaRPr lang="ko-KR" altLang="en-US" dirty="0"/>
          </a:p>
          <a:p>
            <a:r>
              <a:rPr lang="ko-KR" altLang="en-US" dirty="0"/>
              <a:t>2. 사용자 및 권한</a:t>
            </a:r>
          </a:p>
          <a:p>
            <a:r>
              <a:rPr lang="ko-KR" altLang="en-US" dirty="0"/>
              <a:t>구분 설명</a:t>
            </a:r>
          </a:p>
          <a:p>
            <a:r>
              <a:rPr lang="ko-KR" altLang="en-US" dirty="0"/>
              <a:t>ADMIN 전체 시스템 및 </a:t>
            </a:r>
            <a:r>
              <a:rPr lang="ko-KR" altLang="en-US" dirty="0" err="1"/>
              <a:t>재고·주문</a:t>
            </a:r>
            <a:r>
              <a:rPr lang="ko-KR" altLang="en-US" dirty="0"/>
              <a:t> 관리</a:t>
            </a:r>
          </a:p>
          <a:p>
            <a:r>
              <a:rPr lang="ko-KR" altLang="en-US" dirty="0"/>
              <a:t>ARTIST 뮤지션 게시판 관리 및 팬 소통</a:t>
            </a:r>
          </a:p>
          <a:p>
            <a:r>
              <a:rPr lang="ko-KR" altLang="en-US" dirty="0"/>
              <a:t>USER 콘텐츠 조회 및 상품 구매</a:t>
            </a:r>
          </a:p>
          <a:p>
            <a:endParaRPr lang="ko-KR" altLang="en-US" dirty="0"/>
          </a:p>
          <a:p>
            <a:r>
              <a:rPr lang="ko-KR" altLang="en-US" dirty="0"/>
              <a:t>3. 공통 기능 (필수)</a:t>
            </a:r>
          </a:p>
          <a:p>
            <a:r>
              <a:rPr lang="ko-KR" altLang="en-US" dirty="0"/>
              <a:t>● 회원가입 / 로그인 / 로그아웃</a:t>
            </a:r>
          </a:p>
          <a:p>
            <a:r>
              <a:rPr lang="ko-KR" altLang="en-US" dirty="0"/>
              <a:t>● 권한별 접근 제어</a:t>
            </a:r>
          </a:p>
          <a:p>
            <a:r>
              <a:rPr lang="ko-KR" altLang="en-US" dirty="0"/>
              <a:t>● 세션 기반 인증</a:t>
            </a:r>
          </a:p>
          <a:p>
            <a:r>
              <a:rPr lang="ko-KR" altLang="en-US" dirty="0"/>
              <a:t>● 게시판 CRUD</a:t>
            </a:r>
          </a:p>
          <a:p>
            <a:r>
              <a:rPr lang="ko-KR" altLang="en-US" dirty="0"/>
              <a:t>● 파일 업로드 (이미지 중심)</a:t>
            </a:r>
          </a:p>
          <a:p>
            <a:r>
              <a:rPr lang="ko-KR" altLang="en-US" dirty="0"/>
              <a:t>● </a:t>
            </a:r>
            <a:r>
              <a:rPr lang="ko-KR" altLang="en-US" dirty="0" err="1"/>
              <a:t>OpenAPI</a:t>
            </a:r>
            <a:r>
              <a:rPr lang="ko-KR" altLang="en-US" dirty="0"/>
              <a:t> 연동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6C4F2-E12A-34E2-EB35-408A9668E4D6}"/>
              </a:ext>
            </a:extLst>
          </p:cNvPr>
          <p:cNvSpPr txBox="1"/>
          <p:nvPr/>
        </p:nvSpPr>
        <p:spPr>
          <a:xfrm>
            <a:off x="5877098" y="33251"/>
            <a:ext cx="610154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○ </a:t>
            </a:r>
            <a:r>
              <a:rPr lang="ko-KR" altLang="en-US" dirty="0" err="1"/>
              <a:t>MusicBrainz</a:t>
            </a:r>
            <a:r>
              <a:rPr lang="ko-KR" altLang="en-US" dirty="0"/>
              <a:t> API (아티스트 정보)</a:t>
            </a:r>
          </a:p>
          <a:p>
            <a:r>
              <a:rPr lang="ko-KR" altLang="en-US" dirty="0"/>
              <a:t>○ </a:t>
            </a:r>
            <a:r>
              <a:rPr lang="ko-KR" altLang="en-US" dirty="0" err="1"/>
              <a:t>Spotify</a:t>
            </a:r>
            <a:r>
              <a:rPr lang="ko-KR" altLang="en-US" dirty="0"/>
              <a:t> API (음원 </a:t>
            </a:r>
            <a:r>
              <a:rPr lang="ko-KR" altLang="en-US" dirty="0" err="1"/>
              <a:t>미리듣기</a:t>
            </a:r>
            <a:r>
              <a:rPr lang="ko-KR" altLang="en-US" dirty="0"/>
              <a:t> 링크)</a:t>
            </a:r>
          </a:p>
          <a:p>
            <a:r>
              <a:rPr lang="ko-KR" altLang="en-US" dirty="0"/>
              <a:t>○ </a:t>
            </a:r>
            <a:r>
              <a:rPr lang="ko-KR" altLang="en-US" dirty="0" err="1"/>
              <a:t>YouTube</a:t>
            </a:r>
            <a:r>
              <a:rPr lang="ko-KR" altLang="en-US" dirty="0"/>
              <a:t> Data API (홍보 영상)</a:t>
            </a:r>
          </a:p>
          <a:p>
            <a:endParaRPr lang="ko-KR" altLang="en-US" dirty="0"/>
          </a:p>
          <a:p>
            <a:r>
              <a:rPr lang="ko-KR" altLang="en-US" dirty="0"/>
              <a:t>4. 기능 상세 명세</a:t>
            </a:r>
          </a:p>
          <a:p>
            <a:r>
              <a:rPr lang="ko-KR" altLang="en-US" dirty="0"/>
              <a:t>4-1. 회원 및 권한 관리 (필수)</a:t>
            </a:r>
          </a:p>
          <a:p>
            <a:r>
              <a:rPr lang="ko-KR" altLang="en-US" dirty="0"/>
              <a:t>공통</a:t>
            </a:r>
          </a:p>
          <a:p>
            <a:r>
              <a:rPr lang="ko-KR" altLang="en-US" dirty="0"/>
              <a:t>● 회원가입 시 USER 기본 권한 부여</a:t>
            </a:r>
          </a:p>
          <a:p>
            <a:r>
              <a:rPr lang="ko-KR" altLang="en-US" dirty="0"/>
              <a:t>● 로그인 시 권한 별 메뉴 노출</a:t>
            </a:r>
          </a:p>
          <a:p>
            <a:r>
              <a:rPr lang="ko-KR" altLang="en-US" dirty="0"/>
              <a:t>ADMIN</a:t>
            </a:r>
          </a:p>
          <a:p>
            <a:r>
              <a:rPr lang="ko-KR" altLang="en-US" dirty="0"/>
              <a:t>● 회원 목록 조회 (USER / ARTIST)</a:t>
            </a:r>
          </a:p>
          <a:p>
            <a:r>
              <a:rPr lang="ko-KR" altLang="en-US" dirty="0"/>
              <a:t>● 회원 정보 수정 및 강제 탈퇴</a:t>
            </a:r>
          </a:p>
          <a:p>
            <a:r>
              <a:rPr lang="ko-KR" altLang="en-US" dirty="0"/>
              <a:t>USER</a:t>
            </a:r>
          </a:p>
          <a:p>
            <a:r>
              <a:rPr lang="ko-KR" altLang="en-US" dirty="0"/>
              <a:t>● 마이페이지</a:t>
            </a:r>
          </a:p>
          <a:p>
            <a:r>
              <a:rPr lang="ko-KR" altLang="en-US" dirty="0"/>
              <a:t>○ 개인정보 수정 (비밀번호 확인 필수)</a:t>
            </a:r>
          </a:p>
          <a:p>
            <a:r>
              <a:rPr lang="ko-KR" altLang="en-US" dirty="0"/>
              <a:t>○ 주문 내역 조회 및 취소 (</a:t>
            </a:r>
            <a:r>
              <a:rPr lang="ko-KR" altLang="en-US" dirty="0" err="1"/>
              <a:t>배송중</a:t>
            </a:r>
            <a:r>
              <a:rPr lang="ko-KR" altLang="en-US" dirty="0"/>
              <a:t> 제외)</a:t>
            </a:r>
          </a:p>
          <a:p>
            <a:r>
              <a:rPr lang="ko-KR" altLang="en-US" dirty="0"/>
              <a:t>○ 작성 게시글 관리</a:t>
            </a:r>
          </a:p>
          <a:p>
            <a:r>
              <a:rPr lang="ko-KR" altLang="en-US" dirty="0"/>
              <a:t>○ 장바구니 관리</a:t>
            </a:r>
          </a:p>
          <a:p>
            <a:endParaRPr lang="ko-KR" altLang="en-US" dirty="0"/>
          </a:p>
          <a:p>
            <a:r>
              <a:rPr lang="ko-KR" altLang="en-US" dirty="0"/>
              <a:t>ARTIST</a:t>
            </a:r>
          </a:p>
          <a:p>
            <a:r>
              <a:rPr lang="ko-KR" altLang="en-US" dirty="0"/>
              <a:t>● 마이페이지</a:t>
            </a:r>
          </a:p>
          <a:p>
            <a:r>
              <a:rPr lang="ko-KR" altLang="en-US" dirty="0"/>
              <a:t>○ 아티스트 전용 게시판 작성 / 수정</a:t>
            </a:r>
          </a:p>
          <a:p>
            <a:endParaRPr lang="ko-KR" altLang="en-US" dirty="0"/>
          </a:p>
          <a:p>
            <a:r>
              <a:rPr lang="ko-KR" altLang="en-US" dirty="0"/>
              <a:t>4-2. </a:t>
            </a:r>
            <a:r>
              <a:rPr lang="ko-KR" altLang="en-US" dirty="0" err="1"/>
              <a:t>OpenAPI</a:t>
            </a:r>
            <a:r>
              <a:rPr lang="ko-KR" altLang="en-US" dirty="0"/>
              <a:t> 기반 아티스트 정보 (필수)</a:t>
            </a:r>
          </a:p>
          <a:p>
            <a:r>
              <a:rPr lang="ko-KR" altLang="en-US" dirty="0"/>
              <a:t>● 아티스트 기본 정보 조회 (</a:t>
            </a:r>
            <a:r>
              <a:rPr lang="ko-KR" altLang="en-US" dirty="0" err="1"/>
              <a:t>MusicBrainz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● 음원 </a:t>
            </a:r>
            <a:r>
              <a:rPr lang="ko-KR" altLang="en-US" dirty="0" err="1"/>
              <a:t>미리듣기</a:t>
            </a:r>
            <a:r>
              <a:rPr lang="ko-KR" altLang="en-US" dirty="0"/>
              <a:t> 외부 링크 제공 (</a:t>
            </a:r>
            <a:r>
              <a:rPr lang="ko-KR" altLang="en-US" dirty="0" err="1"/>
              <a:t>Spotify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● 홍보 영상 외부 링크 제공 (</a:t>
            </a:r>
            <a:r>
              <a:rPr lang="ko-KR" altLang="en-US" dirty="0" err="1"/>
              <a:t>YouTube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● 아티스트 페이지 등록/수정/삭제 권한: ADMIN</a:t>
            </a:r>
          </a:p>
          <a:p>
            <a:endParaRPr lang="ko-KR" altLang="en-US" dirty="0"/>
          </a:p>
          <a:p>
            <a:r>
              <a:rPr lang="ko-KR" altLang="en-US" dirty="0"/>
              <a:t>4-3. 커뮤니티 게시판 (필수)</a:t>
            </a:r>
          </a:p>
          <a:p>
            <a:r>
              <a:rPr lang="ko-KR" altLang="en-US" dirty="0"/>
              <a:t>ARTIST 게시판</a:t>
            </a:r>
          </a:p>
        </p:txBody>
      </p:sp>
    </p:spTree>
    <p:extLst>
      <p:ext uri="{BB962C8B-B14F-4D97-AF65-F5344CB8AC3E}">
        <p14:creationId xmlns:p14="http://schemas.microsoft.com/office/powerpoint/2010/main" val="2126919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DDD9D0-BD01-3154-AE57-B0570E9B6A19}"/>
              </a:ext>
            </a:extLst>
          </p:cNvPr>
          <p:cNvSpPr txBox="1"/>
          <p:nvPr/>
        </p:nvSpPr>
        <p:spPr>
          <a:xfrm>
            <a:off x="2772" y="0"/>
            <a:ext cx="6093228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● </a:t>
            </a:r>
            <a:r>
              <a:rPr lang="ko-KR" altLang="en-US" dirty="0" err="1"/>
              <a:t>ARTIST만</a:t>
            </a:r>
            <a:r>
              <a:rPr lang="ko-KR" altLang="en-US" dirty="0"/>
              <a:t> 글 작성 가능</a:t>
            </a:r>
          </a:p>
          <a:p>
            <a:r>
              <a:rPr lang="ko-KR" altLang="en-US" dirty="0"/>
              <a:t>● 수정/삭제: ARTIST, ADMIN</a:t>
            </a:r>
          </a:p>
          <a:p>
            <a:r>
              <a:rPr lang="ko-KR" altLang="en-US" dirty="0"/>
              <a:t>● 댓글 기능</a:t>
            </a:r>
          </a:p>
          <a:p>
            <a:r>
              <a:rPr lang="ko-KR" altLang="en-US" dirty="0"/>
              <a:t>USER 게시판</a:t>
            </a:r>
          </a:p>
          <a:p>
            <a:r>
              <a:rPr lang="ko-KR" altLang="en-US" dirty="0"/>
              <a:t>● </a:t>
            </a:r>
            <a:r>
              <a:rPr lang="ko-KR" altLang="en-US" dirty="0" err="1"/>
              <a:t>USER만</a:t>
            </a:r>
            <a:r>
              <a:rPr lang="ko-KR" altLang="en-US" dirty="0"/>
              <a:t> 글 작성 가능</a:t>
            </a:r>
          </a:p>
          <a:p>
            <a:r>
              <a:rPr lang="ko-KR" altLang="en-US" dirty="0"/>
              <a:t>● 전체 사용자 댓글 가능</a:t>
            </a:r>
          </a:p>
          <a:p>
            <a:r>
              <a:rPr lang="ko-KR" altLang="en-US" dirty="0"/>
              <a:t>● 수정/삭제: ADMIN, USER</a:t>
            </a:r>
          </a:p>
          <a:p>
            <a:r>
              <a:rPr lang="ko-KR" altLang="en-US" dirty="0"/>
              <a:t>공통</a:t>
            </a:r>
          </a:p>
          <a:p>
            <a:r>
              <a:rPr lang="ko-KR" altLang="en-US" dirty="0"/>
              <a:t>● 좋아요 기능</a:t>
            </a:r>
          </a:p>
          <a:p>
            <a:r>
              <a:rPr lang="ko-KR" altLang="en-US" dirty="0"/>
              <a:t>● 좋아요 수 기준 인기 게시글 조회 (실시간 계산)</a:t>
            </a:r>
          </a:p>
          <a:p>
            <a:r>
              <a:rPr lang="ko-KR" altLang="en-US" dirty="0"/>
              <a:t>● 전체 게시판 검색 조회 기능</a:t>
            </a:r>
          </a:p>
          <a:p>
            <a:r>
              <a:rPr lang="ko-KR" altLang="en-US" dirty="0"/>
              <a:t>4-4. MD 상품 및 재고 관리 (핵심 필수)</a:t>
            </a:r>
          </a:p>
          <a:p>
            <a:r>
              <a:rPr lang="ko-KR" altLang="en-US" dirty="0"/>
              <a:t>상품 구성</a:t>
            </a:r>
          </a:p>
          <a:p>
            <a:r>
              <a:rPr lang="ko-KR" altLang="en-US" dirty="0"/>
              <a:t>● MD 상품 / 앨범</a:t>
            </a:r>
          </a:p>
          <a:p>
            <a:r>
              <a:rPr lang="ko-KR" altLang="en-US" dirty="0"/>
              <a:t>● 옵션별 재고 (사이즈, 색상)</a:t>
            </a:r>
          </a:p>
          <a:p>
            <a:r>
              <a:rPr lang="ko-KR" altLang="en-US" dirty="0"/>
              <a:t>상품 조회</a:t>
            </a:r>
          </a:p>
          <a:p>
            <a:r>
              <a:rPr lang="ko-KR" altLang="en-US" dirty="0"/>
              <a:t>● 카테고리별 상품 목록</a:t>
            </a:r>
          </a:p>
          <a:p>
            <a:r>
              <a:rPr lang="ko-KR" altLang="en-US" dirty="0"/>
              <a:t>● 상품 상세 페이지</a:t>
            </a:r>
          </a:p>
          <a:p>
            <a:r>
              <a:rPr lang="ko-KR" altLang="en-US" dirty="0"/>
              <a:t>○ 옵션 선택</a:t>
            </a:r>
          </a:p>
          <a:p>
            <a:r>
              <a:rPr lang="ko-KR" altLang="en-US" dirty="0"/>
              <a:t>○ 이미지 및 정보</a:t>
            </a:r>
          </a:p>
          <a:p>
            <a:r>
              <a:rPr lang="ko-KR" altLang="en-US" dirty="0"/>
              <a:t>○ 장바구니 / 바로 주문</a:t>
            </a:r>
          </a:p>
          <a:p>
            <a:r>
              <a:rPr lang="ko-KR" altLang="en-US" dirty="0"/>
              <a:t>○ Q&amp;A 및 리뷰 조회</a:t>
            </a:r>
          </a:p>
          <a:p>
            <a:r>
              <a:rPr lang="ko-KR" altLang="en-US" dirty="0"/>
              <a:t>주문 및 재고 처리</a:t>
            </a:r>
          </a:p>
          <a:p>
            <a:r>
              <a:rPr lang="ko-KR" altLang="en-US" dirty="0"/>
              <a:t>● 주문 시 재고 차감 (트랜잭션 처리)</a:t>
            </a:r>
          </a:p>
          <a:p>
            <a:r>
              <a:rPr lang="ko-KR" altLang="en-US" dirty="0"/>
              <a:t>● 재고 0 → 자동 품절 처리</a:t>
            </a:r>
          </a:p>
          <a:p>
            <a:r>
              <a:rPr lang="ko-KR" altLang="en-US" dirty="0"/>
              <a:t>ADMIN 기능</a:t>
            </a:r>
          </a:p>
          <a:p>
            <a:r>
              <a:rPr lang="ko-KR" altLang="en-US" dirty="0"/>
              <a:t>● 상품 등록 / 수정 / 삭제</a:t>
            </a:r>
          </a:p>
          <a:p>
            <a:r>
              <a:rPr lang="ko-KR" altLang="en-US" dirty="0"/>
              <a:t>● 상품별 </a:t>
            </a:r>
            <a:r>
              <a:rPr lang="ko-KR" altLang="en-US" dirty="0" err="1"/>
              <a:t>주문·판매</a:t>
            </a:r>
            <a:r>
              <a:rPr lang="ko-KR" altLang="en-US" dirty="0"/>
              <a:t> 내역 조회</a:t>
            </a:r>
          </a:p>
          <a:p>
            <a:r>
              <a:rPr lang="ko-KR" altLang="en-US" dirty="0"/>
              <a:t>● 환불 처리</a:t>
            </a:r>
          </a:p>
          <a:p>
            <a:r>
              <a:rPr lang="ko-KR" altLang="en-US" dirty="0"/>
              <a:t>○ 환불 완료 시 재고 복원</a:t>
            </a:r>
          </a:p>
          <a:p>
            <a:r>
              <a:rPr lang="ko-KR" altLang="en-US" dirty="0"/>
              <a:t>● 재고 품절 상품 목록 조회</a:t>
            </a:r>
          </a:p>
          <a:p>
            <a:r>
              <a:rPr lang="ko-KR" altLang="en-US" dirty="0"/>
              <a:t>USER 기능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A1D61-361B-B66A-6D87-8253C180A2F8}"/>
              </a:ext>
            </a:extLst>
          </p:cNvPr>
          <p:cNvSpPr txBox="1"/>
          <p:nvPr/>
        </p:nvSpPr>
        <p:spPr>
          <a:xfrm>
            <a:off x="5411586" y="0"/>
            <a:ext cx="61015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● 상품 주문 (결제 시뮬레이션)</a:t>
            </a:r>
          </a:p>
          <a:p>
            <a:r>
              <a:rPr lang="ko-KR" altLang="en-US" dirty="0"/>
              <a:t>● 주문 취소 및 환불 요청</a:t>
            </a:r>
          </a:p>
          <a:p>
            <a:endParaRPr lang="ko-KR" altLang="en-US" dirty="0"/>
          </a:p>
          <a:p>
            <a:r>
              <a:rPr lang="ko-KR" altLang="en-US" dirty="0"/>
              <a:t>4-5. 재고 및 주문 로그 (필수)</a:t>
            </a:r>
          </a:p>
          <a:p>
            <a:r>
              <a:rPr lang="ko-KR" altLang="en-US" dirty="0"/>
              <a:t>● 입고 이력 로그</a:t>
            </a:r>
          </a:p>
          <a:p>
            <a:r>
              <a:rPr lang="ko-KR" altLang="en-US" dirty="0"/>
              <a:t>● 출고 이력 로그</a:t>
            </a:r>
          </a:p>
          <a:p>
            <a:r>
              <a:rPr lang="ko-KR" altLang="en-US" dirty="0"/>
              <a:t>● 환불 및 재고 복원 로그</a:t>
            </a:r>
          </a:p>
          <a:p>
            <a:endParaRPr lang="ko-KR" altLang="en-US" dirty="0"/>
          </a:p>
          <a:p>
            <a:r>
              <a:rPr lang="ko-KR" altLang="en-US" dirty="0"/>
              <a:t>5. 선택 기능 (구현 범위 조절)</a:t>
            </a:r>
          </a:p>
          <a:p>
            <a:r>
              <a:rPr lang="ko-KR" altLang="en-US" dirty="0"/>
              <a:t>● 판매 통계 (일 / 월 / 아티스트별)</a:t>
            </a:r>
          </a:p>
          <a:p>
            <a:r>
              <a:rPr lang="ko-KR" altLang="en-US" dirty="0"/>
              <a:t>● 상품 Q&amp;A 게시판 + 관리자 답변 상태</a:t>
            </a:r>
          </a:p>
          <a:p>
            <a:r>
              <a:rPr lang="ko-KR" altLang="en-US" dirty="0"/>
              <a:t>● 리뷰 게시판 (구매자만 작성)</a:t>
            </a:r>
          </a:p>
          <a:p>
            <a:endParaRPr lang="ko-KR" altLang="en-US" dirty="0"/>
          </a:p>
          <a:p>
            <a:r>
              <a:rPr lang="ko-KR" altLang="en-US" dirty="0"/>
              <a:t>6. 제외 기능</a:t>
            </a:r>
          </a:p>
          <a:p>
            <a:r>
              <a:rPr lang="ko-KR" altLang="en-US" dirty="0"/>
              <a:t>● 실제 결제 API 연동</a:t>
            </a:r>
          </a:p>
          <a:p>
            <a:r>
              <a:rPr lang="ko-KR" altLang="en-US" dirty="0"/>
              <a:t>● 배치 스케줄러 기반 자동 처리 기능</a:t>
            </a:r>
          </a:p>
          <a:p>
            <a:endParaRPr lang="ko-KR" altLang="en-US" dirty="0"/>
          </a:p>
          <a:p>
            <a:r>
              <a:rPr lang="ko-KR" altLang="en-US" dirty="0"/>
              <a:t>7. 기대 효과</a:t>
            </a:r>
          </a:p>
          <a:p>
            <a:r>
              <a:rPr lang="ko-KR" altLang="en-US" dirty="0"/>
              <a:t>● MVC 구조 이해 및 실습</a:t>
            </a:r>
          </a:p>
          <a:p>
            <a:r>
              <a:rPr lang="ko-KR" altLang="en-US" dirty="0"/>
              <a:t>● </a:t>
            </a:r>
            <a:r>
              <a:rPr lang="ko-KR" altLang="en-US" dirty="0" err="1"/>
              <a:t>OpenAPI</a:t>
            </a:r>
            <a:r>
              <a:rPr lang="ko-KR" altLang="en-US" dirty="0"/>
              <a:t> 활용 경험</a:t>
            </a:r>
          </a:p>
          <a:p>
            <a:r>
              <a:rPr lang="ko-KR" altLang="en-US" dirty="0"/>
              <a:t>● 트랜잭션 기반 재고관리 로직 학습</a:t>
            </a:r>
          </a:p>
          <a:p>
            <a:r>
              <a:rPr lang="ko-KR" altLang="en-US" dirty="0"/>
              <a:t>● 팀 협업 기반 웹 프로젝트 수행 경험</a:t>
            </a:r>
          </a:p>
        </p:txBody>
      </p:sp>
    </p:spTree>
    <p:extLst>
      <p:ext uri="{BB962C8B-B14F-4D97-AF65-F5344CB8AC3E}">
        <p14:creationId xmlns:p14="http://schemas.microsoft.com/office/powerpoint/2010/main" val="3080753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>
          <a:extLst>
            <a:ext uri="{FF2B5EF4-FFF2-40B4-BE49-F238E27FC236}">
              <a16:creationId xmlns:a16="http://schemas.microsoft.com/office/drawing/2014/main" id="{B72A4752-0648-2C8D-B7A3-B1EB33FD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8">
            <a:extLst>
              <a:ext uri="{FF2B5EF4-FFF2-40B4-BE49-F238E27FC236}">
                <a16:creationId xmlns:a16="http://schemas.microsoft.com/office/drawing/2014/main" id="{8D7BAA82-DD58-6B8C-58B9-19510B69E9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8">
            <a:extLst>
              <a:ext uri="{FF2B5EF4-FFF2-40B4-BE49-F238E27FC236}">
                <a16:creationId xmlns:a16="http://schemas.microsoft.com/office/drawing/2014/main" id="{A68B2C0D-E696-F002-B4C4-FA1BB6E5D90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8">
            <a:extLst>
              <a:ext uri="{FF2B5EF4-FFF2-40B4-BE49-F238E27FC236}">
                <a16:creationId xmlns:a16="http://schemas.microsoft.com/office/drawing/2014/main" id="{CC63EA1A-8294-FE0B-EFFB-50CC814AEB5D}"/>
              </a:ext>
            </a:extLst>
          </p:cNvPr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80" name="Google Shape;480;p8">
            <a:extLst>
              <a:ext uri="{FF2B5EF4-FFF2-40B4-BE49-F238E27FC236}">
                <a16:creationId xmlns:a16="http://schemas.microsoft.com/office/drawing/2014/main" id="{229E6620-76EB-4388-B495-BEC23AD6604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81" name="Google Shape;481;p8">
              <a:extLst>
                <a:ext uri="{FF2B5EF4-FFF2-40B4-BE49-F238E27FC236}">
                  <a16:creationId xmlns:a16="http://schemas.microsoft.com/office/drawing/2014/main" id="{40BAE5E5-0AF0-1111-EBE5-94060E36773C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2" name="Google Shape;482;p8">
              <a:extLst>
                <a:ext uri="{FF2B5EF4-FFF2-40B4-BE49-F238E27FC236}">
                  <a16:creationId xmlns:a16="http://schemas.microsoft.com/office/drawing/2014/main" id="{D6FD7E7E-6B98-A253-F29C-EE58CF832708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2800" b="1" dirty="0" err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유스케이스</a:t>
              </a:r>
              <a:r>
                <a:rPr lang="ko-KR" altLang="en-US" sz="2800" b="1" dirty="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다이어그램</a:t>
              </a:r>
              <a:endParaRPr dirty="0"/>
            </a:p>
          </p:txBody>
        </p:sp>
        <p:sp>
          <p:nvSpPr>
            <p:cNvPr id="483" name="Google Shape;483;p8">
              <a:extLst>
                <a:ext uri="{FF2B5EF4-FFF2-40B4-BE49-F238E27FC236}">
                  <a16:creationId xmlns:a16="http://schemas.microsoft.com/office/drawing/2014/main" id="{E373F6BC-2A03-EB23-5774-D007C3CA81C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4" name="Google Shape;484;p8">
            <a:extLst>
              <a:ext uri="{FF2B5EF4-FFF2-40B4-BE49-F238E27FC236}">
                <a16:creationId xmlns:a16="http://schemas.microsoft.com/office/drawing/2014/main" id="{9C6AF69D-6933-BDDA-63C5-549D890081C4}"/>
              </a:ext>
            </a:extLst>
          </p:cNvPr>
          <p:cNvPicPr preferRelativeResize="0"/>
          <p:nvPr/>
        </p:nvPicPr>
        <p:blipFill rotWithShape="1">
          <a:blip r:embed="rId5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8">
            <a:extLst>
              <a:ext uri="{FF2B5EF4-FFF2-40B4-BE49-F238E27FC236}">
                <a16:creationId xmlns:a16="http://schemas.microsoft.com/office/drawing/2014/main" id="{C4F69F9E-74B0-C8D0-B4FA-DFC40493DE45}"/>
              </a:ext>
            </a:extLst>
          </p:cNvPr>
          <p:cNvSpPr/>
          <p:nvPr/>
        </p:nvSpPr>
        <p:spPr>
          <a:xfrm>
            <a:off x="541891" y="1539006"/>
            <a:ext cx="101147" cy="113869"/>
          </a:xfrm>
          <a:custGeom>
            <a:avLst/>
            <a:gdLst/>
            <a:ahLst/>
            <a:cxnLst/>
            <a:rect l="l" t="t" r="r" b="b"/>
            <a:pathLst>
              <a:path w="450214" h="506845" extrusionOk="0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>
            <a:noFill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p8">
            <a:extLst>
              <a:ext uri="{FF2B5EF4-FFF2-40B4-BE49-F238E27FC236}">
                <a16:creationId xmlns:a16="http://schemas.microsoft.com/office/drawing/2014/main" id="{875F4BB9-3124-A45A-B647-6EC086733B53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8">
            <a:extLst>
              <a:ext uri="{FF2B5EF4-FFF2-40B4-BE49-F238E27FC236}">
                <a16:creationId xmlns:a16="http://schemas.microsoft.com/office/drawing/2014/main" id="{B9224CAB-51D2-52A7-E545-76FDABFF5EE5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0" name="Google Shape;530;p8">
            <a:extLst>
              <a:ext uri="{FF2B5EF4-FFF2-40B4-BE49-F238E27FC236}">
                <a16:creationId xmlns:a16="http://schemas.microsoft.com/office/drawing/2014/main" id="{51A79C6E-DC9E-40BD-DF2A-A165C20E7C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1" name="Google Shape;531;p8">
            <a:extLst>
              <a:ext uri="{FF2B5EF4-FFF2-40B4-BE49-F238E27FC236}">
                <a16:creationId xmlns:a16="http://schemas.microsoft.com/office/drawing/2014/main" id="{78D539B9-45A2-AE6D-9C83-BF1561C86725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532" name="Google Shape;532;p8">
              <a:extLst>
                <a:ext uri="{FF2B5EF4-FFF2-40B4-BE49-F238E27FC236}">
                  <a16:creationId xmlns:a16="http://schemas.microsoft.com/office/drawing/2014/main" id="{7E1A91BB-B664-8643-9BC1-DB28E8C6F459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3" name="Google Shape;533;p8">
              <a:extLst>
                <a:ext uri="{FF2B5EF4-FFF2-40B4-BE49-F238E27FC236}">
                  <a16:creationId xmlns:a16="http://schemas.microsoft.com/office/drawing/2014/main" id="{2A353C65-4E3A-0661-4811-C68A8D12879F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57705" y="4277173"/>
              <a:ext cx="142074" cy="14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4" name="Google Shape;534;p8">
              <a:extLst>
                <a:ext uri="{FF2B5EF4-FFF2-40B4-BE49-F238E27FC236}">
                  <a16:creationId xmlns:a16="http://schemas.microsoft.com/office/drawing/2014/main" id="{1DF91BEC-41DC-CA31-97CC-837E8E205347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5" name="Google Shape;535;p8">
            <a:extLst>
              <a:ext uri="{FF2B5EF4-FFF2-40B4-BE49-F238E27FC236}">
                <a16:creationId xmlns:a16="http://schemas.microsoft.com/office/drawing/2014/main" id="{679A053B-F470-F26F-85C2-8FF6D91E5A4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536" name="Google Shape;536;p8" descr="EMB0000378c3f3d">
              <a:extLst>
                <a:ext uri="{FF2B5EF4-FFF2-40B4-BE49-F238E27FC236}">
                  <a16:creationId xmlns:a16="http://schemas.microsoft.com/office/drawing/2014/main" id="{6ACF3489-9907-88F4-7A45-674919A74571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8">
              <a:extLst>
                <a:ext uri="{FF2B5EF4-FFF2-40B4-BE49-F238E27FC236}">
                  <a16:creationId xmlns:a16="http://schemas.microsoft.com/office/drawing/2014/main" id="{572691E7-C6C8-D26B-E58F-14789C3086ED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그림 2" descr="도표, 원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DCC5EF-6C98-4E80-58BF-51A9C3AE99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484" y="1990296"/>
            <a:ext cx="10847331" cy="414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24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b96e8a2366_0_33"/>
          <p:cNvSpPr txBox="1"/>
          <p:nvPr/>
        </p:nvSpPr>
        <p:spPr>
          <a:xfrm>
            <a:off x="851100" y="838700"/>
            <a:ext cx="11340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예시 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“기능 구현에 앞서 사용자 행위를 기준으로 </a:t>
            </a:r>
            <a:r>
              <a:rPr lang="ko-KR" sz="20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유스케이스를</a:t>
            </a: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정의하였으며,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이를 바탕으로 데이터 구조와 화면 흐름을 설계하였다.”</a:t>
            </a:r>
            <a:endParaRPr sz="20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72" name="Google Shape;472;g3b96e8a2366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4650" y="1946900"/>
            <a:ext cx="605790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8"/>
          <p:cNvPicPr preferRelativeResize="0"/>
          <p:nvPr/>
        </p:nvPicPr>
        <p:blipFill rotWithShape="1">
          <a:blip r:embed="rId4">
            <a:alphaModFix/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8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80" name="Google Shape;480;p8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81" name="Google Shape;481;p8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2" name="Google Shape;482;p8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483" name="Google Shape;483;p8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4" name="Google Shape;484;p8"/>
          <p:cNvPicPr preferRelativeResize="0"/>
          <p:nvPr/>
        </p:nvPicPr>
        <p:blipFill rotWithShape="1">
          <a:blip r:embed="rId5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5" name="Google Shape;485;p8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486" name="Google Shape;486;p8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</a:t>
              </a: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결과물이 도출된 과정</a:t>
              </a: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세부적으로 작성한다. </a:t>
              </a:r>
              <a:endParaRPr/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88" name="Google Shape;488;p8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8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0" name="Google Shape;490;p8"/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91" name="Google Shape;491;p8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name="adj" fmla="val 16667"/>
              </a:avLst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2" name="Google Shape;492;p8"/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이어지는 예시는 하나의 사례 제공을 위해서 간단하게 제시한 것이므로 </a:t>
              </a:r>
              <a:r>
                <a:rPr lang="ko-KR" sz="1400" b="1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성격에 따라 보다 자세하게 작성</a:t>
              </a:r>
              <a:endParaRPr sz="1400" b="1">
                <a:solidFill>
                  <a:srgbClr val="FFD85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93" name="Google Shape;493;p8"/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494" name="Google Shape;494;p8"/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5" name="Google Shape;495;p8"/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 b="1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!</a:t>
                </a:r>
                <a:endParaRPr sz="1200" b="1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6" name="Google Shape;496;p8"/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noFill/>
          <a:ln w="15875" cap="rnd" cmpd="sng">
            <a:solidFill>
              <a:srgbClr val="BFBFBF">
                <a:alpha val="86666"/>
              </a:srgbClr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8"/>
          <p:cNvSpPr txBox="1"/>
          <p:nvPr/>
        </p:nvSpPr>
        <p:spPr>
          <a:xfrm>
            <a:off x="513707" y="2888446"/>
            <a:ext cx="1738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 sz="2400" b="1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1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rPr>
              <a:t>수행 경과</a:t>
            </a:r>
            <a:endParaRPr/>
          </a:p>
        </p:txBody>
      </p:sp>
      <p:grpSp>
        <p:nvGrpSpPr>
          <p:cNvPr id="498" name="Google Shape;498;p8"/>
          <p:cNvGrpSpPr/>
          <p:nvPr/>
        </p:nvGrpSpPr>
        <p:grpSpPr>
          <a:xfrm>
            <a:off x="2628179" y="3661000"/>
            <a:ext cx="9221535" cy="673099"/>
            <a:chOff x="2654691" y="3661000"/>
            <a:chExt cx="9221535" cy="673099"/>
          </a:xfrm>
        </p:grpSpPr>
        <p:sp>
          <p:nvSpPr>
            <p:cNvPr id="499" name="Google Shape;499;p8"/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00" name="Google Shape;500;p8"/>
            <p:cNvGrpSpPr/>
            <p:nvPr/>
          </p:nvGrpSpPr>
          <p:grpSpPr>
            <a:xfrm>
              <a:off x="2654691" y="3784081"/>
              <a:ext cx="418718" cy="380422"/>
              <a:chOff x="427587" y="2066948"/>
              <a:chExt cx="912263" cy="828829"/>
            </a:xfrm>
          </p:grpSpPr>
          <p:sp>
            <p:nvSpPr>
              <p:cNvPr id="501" name="Google Shape;501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2" name="Google Shape;502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3" name="Google Shape;503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4" name="Google Shape;504;p8"/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과정이 잘 드러날 수 있도록 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가공 과정부터 활용까지 전체적인 프로세스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단계별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 작성</a:t>
              </a:r>
              <a:endParaRPr/>
            </a:p>
          </p:txBody>
        </p:sp>
      </p:grpSp>
      <p:grpSp>
        <p:nvGrpSpPr>
          <p:cNvPr id="505" name="Google Shape;505;p8"/>
          <p:cNvGrpSpPr/>
          <p:nvPr/>
        </p:nvGrpSpPr>
        <p:grpSpPr>
          <a:xfrm>
            <a:off x="2628179" y="4597922"/>
            <a:ext cx="9105466" cy="673099"/>
            <a:chOff x="2654691" y="4597922"/>
            <a:chExt cx="9105466" cy="673099"/>
          </a:xfrm>
        </p:grpSpPr>
        <p:sp>
          <p:nvSpPr>
            <p:cNvPr id="506" name="Google Shape;506;p8"/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07" name="Google Shape;507;p8"/>
            <p:cNvGrpSpPr/>
            <p:nvPr/>
          </p:nvGrpSpPr>
          <p:grpSpPr>
            <a:xfrm>
              <a:off x="2654691" y="4720664"/>
              <a:ext cx="418718" cy="380422"/>
              <a:chOff x="427587" y="2066948"/>
              <a:chExt cx="912263" cy="828829"/>
            </a:xfrm>
          </p:grpSpPr>
          <p:sp>
            <p:nvSpPr>
              <p:cNvPr id="508" name="Google Shape;508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9" name="Google Shape;509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10" name="Google Shape;510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" name="Google Shape;511;p8"/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과정에서의 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피드백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그것을 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적용(보완 등)한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 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endParaRPr/>
            </a:p>
          </p:txBody>
        </p:sp>
      </p:grpSp>
      <p:grpSp>
        <p:nvGrpSpPr>
          <p:cNvPr id="512" name="Google Shape;512;p8"/>
          <p:cNvGrpSpPr/>
          <p:nvPr/>
        </p:nvGrpSpPr>
        <p:grpSpPr>
          <a:xfrm>
            <a:off x="2628179" y="2724078"/>
            <a:ext cx="9105466" cy="673099"/>
            <a:chOff x="2654691" y="2724078"/>
            <a:chExt cx="9105466" cy="673099"/>
          </a:xfrm>
        </p:grpSpPr>
        <p:sp>
          <p:nvSpPr>
            <p:cNvPr id="513" name="Google Shape;513;p8"/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4" name="Google Shape;514;p8"/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결과를 서술하는 과정에서는 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활용된 기술 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방법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핵심기능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결과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등을 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상세히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작성</a:t>
              </a:r>
              <a:endParaRPr sz="14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5" name="Google Shape;515;p8"/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빅데이터 직종의 경우 정확도 등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16" name="Google Shape;516;p8"/>
            <p:cNvGrpSpPr/>
            <p:nvPr/>
          </p:nvGrpSpPr>
          <p:grpSpPr>
            <a:xfrm>
              <a:off x="2654691" y="2847498"/>
              <a:ext cx="418718" cy="416501"/>
              <a:chOff x="427587" y="2066948"/>
              <a:chExt cx="912263" cy="907435"/>
            </a:xfrm>
          </p:grpSpPr>
          <p:sp>
            <p:nvSpPr>
              <p:cNvPr id="517" name="Google Shape;517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18" name="Google Shape;518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19" name="Google Shape;519;p8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0" name="Google Shape;520;p8"/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>
                <a:gd name="adj" fmla="val 16667"/>
              </a:avLst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예시</a:t>
              </a:r>
              <a:endParaRPr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21" name="Google Shape;521;p8"/>
          <p:cNvGrpSpPr/>
          <p:nvPr/>
        </p:nvGrpSpPr>
        <p:grpSpPr>
          <a:xfrm>
            <a:off x="2628179" y="5534844"/>
            <a:ext cx="9105466" cy="673099"/>
            <a:chOff x="2654691" y="5534844"/>
            <a:chExt cx="9105466" cy="673099"/>
          </a:xfrm>
        </p:grpSpPr>
        <p:sp>
          <p:nvSpPr>
            <p:cNvPr id="522" name="Google Shape;522;p8"/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23" name="Google Shape;523;p8"/>
            <p:cNvGrpSpPr/>
            <p:nvPr/>
          </p:nvGrpSpPr>
          <p:grpSpPr>
            <a:xfrm>
              <a:off x="2654691" y="5657247"/>
              <a:ext cx="418718" cy="380422"/>
              <a:chOff x="427587" y="2066948"/>
              <a:chExt cx="912263" cy="828829"/>
            </a:xfrm>
          </p:grpSpPr>
          <p:sp>
            <p:nvSpPr>
              <p:cNvPr id="524" name="Google Shape;524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 w="12700" cap="flat" cmpd="sng">
                <a:solidFill>
                  <a:srgbClr val="3378C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25" name="Google Shape;525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 extrusionOk="0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3725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26" name="Google Shape;526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7" name="Google Shape;527;p8"/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결과물을 잘 드러낼 수 있는 자료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</a:t>
              </a:r>
              <a:r>
                <a:rPr lang="ko-KR" sz="14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하여 작성</a:t>
              </a:r>
              <a:endParaRPr/>
            </a:p>
          </p:txBody>
        </p:sp>
        <p:sp>
          <p:nvSpPr>
            <p:cNvPr id="528" name="Google Shape;528;p8"/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 사진, 시연 영상, 구동 화면 등 프로젝트의 우수성이 드러날 수 있는 자료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9" name="Google Shape;529;p8"/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>
                <a:gd name="adj" fmla="val 16667"/>
              </a:avLst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 자료 예시</a:t>
              </a:r>
              <a:endParaRPr/>
            </a:p>
          </p:txBody>
        </p:sp>
      </p:grpSp>
      <p:pic>
        <p:nvPicPr>
          <p:cNvPr id="530" name="Google Shape;530;p8"/>
          <p:cNvPicPr preferRelativeResize="0"/>
          <p:nvPr/>
        </p:nvPicPr>
        <p:blipFill rotWithShape="1">
          <a:blip r:embed="rId6">
            <a:alphaModFix/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1" name="Google Shape;531;p8"/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532" name="Google Shape;532;p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3" name="Google Shape;533;p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57705" y="4277173"/>
              <a:ext cx="142074" cy="14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4" name="Google Shape;534;p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5" name="Google Shape;535;p8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536" name="Google Shape;536;p8" descr="EMB0000378c3f3d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8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b96e8a2366_0_12"/>
          <p:cNvSpPr txBox="1"/>
          <p:nvPr/>
        </p:nvSpPr>
        <p:spPr>
          <a:xfrm>
            <a:off x="638875" y="66600"/>
            <a:ext cx="10279500" cy="79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에서 기획한 프로젝트에 대한 실제 수행 작업을 작성해 주시면 됩니다.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수행경과  ⇒ 기획한 프로젝트를 실제로 수행하면서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과정을 거쳤고,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과정에서 무엇을 만들었으며,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문제를 겪고 어떻게 개선했는지의 “이력(히스토리)”</a:t>
            </a:r>
            <a:endParaRPr sz="21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수행경과 예시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04-1. 프로젝트 수행 개요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04-2. 핵심 기능 구현 결과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04-3. ERD 기반 실제 테이블 구성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04-4. 와이어프레임 대비 구현 화면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04-5. 문제점 및 개선 사항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</a:rPr>
              <a:t>04-6. 결과물 증빙 자료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ko-KR" sz="2300">
                <a:solidFill>
                  <a:schemeClr val="dk1"/>
                </a:solidFill>
              </a:rPr>
              <a:t>예시) </a:t>
            </a:r>
            <a:r>
              <a:rPr lang="ko-KR" sz="2200">
                <a:solidFill>
                  <a:schemeClr val="dk1"/>
                </a:solidFill>
              </a:rPr>
              <a:t>03단계에서 설계한 ERD를 기반으로 실제 테이블을 생성하였으며,</a:t>
            </a:r>
            <a:endParaRPr sz="2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200">
                <a:solidFill>
                  <a:schemeClr val="dk1"/>
                </a:solidFill>
              </a:rPr>
              <a:t>개발 과정에서 발생한 문제를 반영하여 일부 컬럼을 수정하였다.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96e8a2366_0_42"/>
          <p:cNvSpPr txBox="1"/>
          <p:nvPr/>
        </p:nvSpPr>
        <p:spPr>
          <a:xfrm>
            <a:off x="364375" y="196800"/>
            <a:ext cx="11009100" cy="70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개발해서 실행한 화면캡쳐 / 코드 캡쳐 등을 넣어주세요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수행과정에 진행되는 테스트 화면을 캡쳐해서 넣어주세요 - 스프링부트 단위테스트 / POSTMAN의 테스트 화면 캡쳐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아래와 같이 어떤 문제가 발생되었고 어떻게 해결했는지에 대한 내용이 반드시 포함되도록 해주세요.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dk1"/>
                </a:solidFill>
              </a:rPr>
              <a:t>1️⃣ 무엇을 실제로 했는가</a:t>
            </a:r>
            <a:endParaRPr sz="17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>
                <a:solidFill>
                  <a:schemeClr val="dk1"/>
                </a:solidFill>
              </a:rPr>
              <a:t>설계 → 구현 → 테스트 → 개선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 b="1">
                <a:solidFill>
                  <a:schemeClr val="dk1"/>
                </a:solidFill>
              </a:rPr>
              <a:t>실제 수행된 작업  </a:t>
            </a:r>
            <a:r>
              <a:rPr lang="ko-KR" sz="1100">
                <a:solidFill>
                  <a:schemeClr val="dk1"/>
                </a:solidFill>
              </a:rPr>
              <a:t>예: “재고 CRUD 기능을 구현하였다”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dk1"/>
                </a:solidFill>
              </a:rPr>
              <a:t>2️⃣ 어떻게 진행되었는가</a:t>
            </a:r>
            <a:endParaRPr sz="17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>
                <a:solidFill>
                  <a:schemeClr val="dk1"/>
                </a:solidFill>
              </a:rPr>
              <a:t>단계별 흐름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>
                <a:solidFill>
                  <a:schemeClr val="dk1"/>
                </a:solidFill>
              </a:rPr>
              <a:t>작업 순서와 이유 예: “핵심 기능을 우선 구현한 뒤, 부가 기능을 확장하였다”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dk1"/>
                </a:solidFill>
              </a:rPr>
              <a:t>3️⃣ 어떤 문제가 있었는가</a:t>
            </a:r>
            <a:endParaRPr sz="17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>
                <a:solidFill>
                  <a:schemeClr val="dk1"/>
                </a:solidFill>
              </a:rPr>
              <a:t>오류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>
                <a:solidFill>
                  <a:schemeClr val="dk1"/>
                </a:solidFill>
              </a:rPr>
              <a:t>설계와 구현의 차이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>
                <a:solidFill>
                  <a:schemeClr val="dk1"/>
                </a:solidFill>
              </a:rPr>
              <a:t>기술적 난관</a:t>
            </a:r>
            <a:br>
              <a:rPr lang="ko-KR" sz="1100">
                <a:solidFill>
                  <a:schemeClr val="dk1"/>
                </a:solidFill>
              </a:rPr>
            </a:br>
            <a:r>
              <a:rPr lang="ko-KR" sz="1100">
                <a:solidFill>
                  <a:schemeClr val="dk1"/>
                </a:solidFill>
              </a:rPr>
              <a:t>예: “동시 재고 수정 시 데이터 불일치 문제가 발생하였다”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ko-KR" sz="1700" b="1">
                <a:solidFill>
                  <a:schemeClr val="dk1"/>
                </a:solidFill>
              </a:rPr>
              <a:t>4️⃣ 어떻게 해결·개선했는가</a:t>
            </a:r>
            <a:endParaRPr sz="17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>
                <a:solidFill>
                  <a:schemeClr val="dk1"/>
                </a:solidFill>
              </a:rPr>
              <a:t>수정 방향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-KR" sz="1100">
                <a:solidFill>
                  <a:schemeClr val="dk1"/>
                </a:solidFill>
              </a:rPr>
              <a:t>적용 결과  예: “트랜잭션 범위를 조정하여 문제를 해결하였다”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9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4" name="Google Shape;554;p9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55" name="Google Shape;555;p9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6" name="Google Shape;556;p9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57" name="Google Shape;557;p9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8" name="Google Shape;558;p9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9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0" name="Google Shape;560;p9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61" name="Google Shape;561;p9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학습 데이터 소개 (Train/dev set)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63" name="Google Shape;563;p9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① 탐색적 분석 및 전처리</a:t>
            </a:r>
            <a:endParaRPr sz="1400"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4" name="Google Shape;564;p9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5" name="Google Shape;565;p9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566" name="Google Shape;566;p9" descr="EMB0000378c3f3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7" name="Google Shape;567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8" name="Google Shape;568;p9"/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Tokenizing : Okt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Regular Expression : 불용어가 많아 필수 한글, 영어, 숫자만 추출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Embedding : 단어 임베딩(Glove) – 단어 사이 문맥상 유사성 이해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Vocabulary </a:t>
            </a:r>
            <a:endParaRPr/>
          </a:p>
        </p:txBody>
      </p:sp>
      <p:sp>
        <p:nvSpPr>
          <p:cNvPr id="569" name="Google Shape;569;p9"/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LG CNS KORQUAD 질의응답 형식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Context : 10,645개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QA 쌍 : 66,181개 </a:t>
            </a:r>
            <a:endParaRPr/>
          </a:p>
        </p:txBody>
      </p:sp>
      <p:pic>
        <p:nvPicPr>
          <p:cNvPr id="570" name="Google Shape;570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7960" y="3741700"/>
            <a:ext cx="4110349" cy="2476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571" name="Google Shape;571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8159" y="3767684"/>
            <a:ext cx="2045691" cy="2318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70014" y="4560935"/>
            <a:ext cx="1816710" cy="200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84533" y="4182580"/>
            <a:ext cx="2173901" cy="163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1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81" name="Google Shape;581;p1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82" name="Google Shape;582;p10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3" name="Google Shape;583;p1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84" name="Google Shape;584;p1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5" name="Google Shape;585;p1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7" name="Google Shape;587;p1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88" name="Google Shape;588;p1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323F4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9" name="Google Shape;589;p10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90" name="Google Shape;590;p10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② 모델 개요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91" name="Google Shape;591;p10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2" name="Google Shape;592;p1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593" name="Google Shape;593;p10" descr="EMB0000378c3f3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4" name="Google Shape;594;p1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5" name="Google Shape;595;p10"/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루프를 순환하면서 주어진 입력에 관한 신경망 출력을 방지하기 위해 고안된 순환 신경망(RNN: Recurrent Neural Network) </a:t>
            </a:r>
            <a:endParaRPr/>
          </a:p>
        </p:txBody>
      </p:sp>
      <p:grpSp>
        <p:nvGrpSpPr>
          <p:cNvPr id="596" name="Google Shape;596;p10"/>
          <p:cNvGrpSpPr/>
          <p:nvPr/>
        </p:nvGrpSpPr>
        <p:grpSpPr>
          <a:xfrm>
            <a:off x="3277543" y="2910825"/>
            <a:ext cx="5035964" cy="3631951"/>
            <a:chOff x="648075" y="0"/>
            <a:chExt cx="5035964" cy="3631951"/>
          </a:xfrm>
        </p:grpSpPr>
        <p:sp>
          <p:nvSpPr>
            <p:cNvPr id="597" name="Google Shape;597;p10"/>
            <p:cNvSpPr/>
            <p:nvPr/>
          </p:nvSpPr>
          <p:spPr>
            <a:xfrm>
              <a:off x="2404255" y="0"/>
              <a:ext cx="1748155" cy="174842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8412" y="60000"/>
                  </a:moveTo>
                  <a:lnTo>
                    <a:pt x="8412" y="60000"/>
                  </a:lnTo>
                  <a:cubicBezTo>
                    <a:pt x="8412" y="32962"/>
                    <a:pt x="29287" y="10511"/>
                    <a:pt x="56253" y="8547"/>
                  </a:cubicBezTo>
                  <a:cubicBezTo>
                    <a:pt x="83219" y="6583"/>
                    <a:pt x="107126" y="25773"/>
                    <a:pt x="111044" y="52526"/>
                  </a:cubicBezTo>
                  <a:cubicBezTo>
                    <a:pt x="114961" y="79279"/>
                    <a:pt x="97559" y="104517"/>
                    <a:pt x="71162" y="110367"/>
                  </a:cubicBezTo>
                  <a:lnTo>
                    <a:pt x="70593" y="118429"/>
                  </a:lnTo>
                  <a:lnTo>
                    <a:pt x="56830" y="104890"/>
                  </a:lnTo>
                  <a:lnTo>
                    <a:pt x="72706" y="88508"/>
                  </a:lnTo>
                  <a:lnTo>
                    <a:pt x="72145" y="96445"/>
                  </a:lnTo>
                  <a:cubicBezTo>
                    <a:pt x="90761" y="90240"/>
                    <a:pt x="101708" y="70999"/>
                    <a:pt x="97532" y="51824"/>
                  </a:cubicBezTo>
                  <a:cubicBezTo>
                    <a:pt x="93356" y="32649"/>
                    <a:pt x="75399" y="19705"/>
                    <a:pt x="55889" y="21805"/>
                  </a:cubicBezTo>
                  <a:cubicBezTo>
                    <a:pt x="36379" y="23906"/>
                    <a:pt x="21588" y="40375"/>
                    <a:pt x="21588" y="6000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0"/>
            <p:cNvSpPr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0"/>
            <p:cNvSpPr txBox="1"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문단과 질의간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(모델 학습)</a:t>
              </a:r>
              <a:endParaRPr/>
            </a:p>
          </p:txBody>
        </p:sp>
        <p:sp>
          <p:nvSpPr>
            <p:cNvPr id="600" name="Google Shape;600;p10"/>
            <p:cNvSpPr/>
            <p:nvPr/>
          </p:nvSpPr>
          <p:spPr>
            <a:xfrm>
              <a:off x="1918711" y="1004597"/>
              <a:ext cx="1748155" cy="174842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6481" y="23524"/>
                  </a:moveTo>
                  <a:lnTo>
                    <a:pt x="87165" y="32840"/>
                  </a:lnTo>
                  <a:lnTo>
                    <a:pt x="87165" y="32840"/>
                  </a:lnTo>
                  <a:cubicBezTo>
                    <a:pt x="75945" y="21617"/>
                    <a:pt x="58981" y="18448"/>
                    <a:pt x="44467" y="24866"/>
                  </a:cubicBezTo>
                  <a:cubicBezTo>
                    <a:pt x="29954" y="31283"/>
                    <a:pt x="20881" y="45964"/>
                    <a:pt x="21631" y="61816"/>
                  </a:cubicBezTo>
                  <a:cubicBezTo>
                    <a:pt x="22381" y="77668"/>
                    <a:pt x="32801" y="91427"/>
                    <a:pt x="47855" y="96445"/>
                  </a:cubicBezTo>
                  <a:lnTo>
                    <a:pt x="47294" y="88508"/>
                  </a:lnTo>
                  <a:lnTo>
                    <a:pt x="63170" y="104890"/>
                  </a:lnTo>
                  <a:lnTo>
                    <a:pt x="49407" y="118429"/>
                  </a:lnTo>
                  <a:lnTo>
                    <a:pt x="48838" y="110367"/>
                  </a:lnTo>
                  <a:lnTo>
                    <a:pt x="48838" y="110367"/>
                  </a:lnTo>
                  <a:cubicBezTo>
                    <a:pt x="27395" y="105615"/>
                    <a:pt x="11311" y="87806"/>
                    <a:pt x="8761" y="65990"/>
                  </a:cubicBezTo>
                  <a:cubicBezTo>
                    <a:pt x="6211" y="44174"/>
                    <a:pt x="17753" y="23136"/>
                    <a:pt x="37522" y="13566"/>
                  </a:cubicBezTo>
                  <a:cubicBezTo>
                    <a:pt x="57291" y="3995"/>
                    <a:pt x="80952" y="7992"/>
                    <a:pt x="96481" y="23524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0"/>
            <p:cNvSpPr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0"/>
            <p:cNvSpPr txBox="1"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신규 질문 입력</a:t>
              </a:r>
              <a:endParaRPr/>
            </a:p>
          </p:txBody>
        </p:sp>
        <p:sp>
          <p:nvSpPr>
            <p:cNvPr id="603" name="Google Shape;603;p10"/>
            <p:cNvSpPr/>
            <p:nvPr/>
          </p:nvSpPr>
          <p:spPr>
            <a:xfrm>
              <a:off x="2528678" y="2129413"/>
              <a:ext cx="1501936" cy="1502538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  <a:solidFill>
              <a:schemeClr val="accent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0"/>
            <p:cNvSpPr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0"/>
            <p:cNvSpPr txBox="1"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75" tIns="8875" rIns="8875" bIns="8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(해당 문단 제시)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Google Shape;61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11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12" name="Google Shape;612;p11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13" name="Google Shape;613;p11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4" name="Google Shape;614;p11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15" name="Google Shape;615;p11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6" name="Google Shape;616;p1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1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Google Shape;618;p11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19" name="Google Shape;619;p11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21" name="Google Shape;621;p11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③ 모델 선정 및 분석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22" name="Google Shape;622;p11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3" name="Google Shape;623;p11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24" name="Google Shape;624;p11" descr="EMB0000378c3f3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5" name="Google Shape;625;p1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26" name="Google Shape;626;p11" descr="https://i.imgur.com/NV7jQ0X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1746" y="3140968"/>
            <a:ext cx="4957365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1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11"/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2Layer LSTM : 문단, 질문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코사인 유사도(문서) 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Google Shape;63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2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35" name="Google Shape;635;p12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36" name="Google Shape;636;p12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7" name="Google Shape;637;p12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38" name="Google Shape;638;p12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9" name="Google Shape;639;p12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2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" name="Google Shape;641;p12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42" name="Google Shape;642;p12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643" name="Google Shape;643;p12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44" name="Google Shape;644;p12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④ 모델 평가 및 개선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45" name="Google Shape;645;p12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6" name="Google Shape;646;p12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647" name="Google Shape;647;p12" descr="EMB0000378c3f3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8" name="Google Shape;648;p1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49" name="Google Shape;649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1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2"/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3Layer LSTM 으로 변경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옵티마이저 조정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: Adam -&gt;‘rmsprop’로 변경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&gt;&gt; 학습속도 및 유사도 개선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3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58" name="Google Shape;658;p13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59" name="Google Shape;659;p13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0" name="Google Shape;660;p13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61" name="Google Shape;661;p13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4400" b="1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2" name="Google Shape;662;p13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4" name="Google Shape;664;p13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65" name="Google Shape;665;p13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발표 영상이 아닌 세부 기능 소개, 화면 구동 및 기능 동작 여부 시연영상으로 제작한다.</a:t>
              </a:r>
              <a:endParaRPr sz="1800" b="1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66" name="Google Shape;666;p13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67" name="Google Shape;667;p13"/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⑤ 시연 동영상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68" name="Google Shape;668;p13"/>
          <p:cNvPicPr preferRelativeResize="0"/>
          <p:nvPr/>
        </p:nvPicPr>
        <p:blipFill rotWithShape="1">
          <a:blip r:embed="rId4">
            <a:alphaModFix amt="27000"/>
          </a:blip>
          <a:srcRect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9" name="Google Shape;669;p13"/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670" name="Google Shape;670;p13"/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/>
              <a:ahLst/>
              <a:cxnLst/>
              <a:rect l="l" t="t" r="r" b="b"/>
              <a:pathLst>
                <a:path w="7434265" h="4167182" extrusionOk="0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671" name="Google Shape;671;p13"/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672" name="Google Shape;672;p13"/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/>
                <a:ahLst/>
                <a:cxnLst/>
                <a:rect l="l" t="t" r="r" b="b"/>
                <a:pathLst>
                  <a:path w="419805" h="488280" extrusionOk="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4980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/>
                <a:ahLst/>
                <a:cxnLst/>
                <a:rect l="l" t="t" r="r" b="b"/>
                <a:pathLst>
                  <a:path w="1213444" h="1213444" extrusionOk="0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4980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74" name="Google Shape;674;p13"/>
            <p:cNvGrpSpPr/>
            <p:nvPr/>
          </p:nvGrpSpPr>
          <p:grpSpPr>
            <a:xfrm>
              <a:off x="912084" y="5964402"/>
              <a:ext cx="8282388" cy="165888"/>
              <a:chOff x="912084" y="5964402"/>
              <a:chExt cx="8282388" cy="165888"/>
            </a:xfrm>
          </p:grpSpPr>
          <p:sp>
            <p:nvSpPr>
              <p:cNvPr id="675" name="Google Shape;675;p13"/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/>
                <a:ahLst/>
                <a:cxnLst/>
                <a:rect l="l" t="t" r="r" b="b"/>
                <a:pathLst>
                  <a:path w="128993" h="152771" extrusionOk="0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/>
                <a:ahLst/>
                <a:cxnLst/>
                <a:rect l="l" t="t" r="r" b="b"/>
                <a:pathLst>
                  <a:path w="130944" h="152771" extrusionOk="0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/>
                <a:ahLst/>
                <a:cxnLst/>
                <a:rect l="l" t="t" r="r" b="b"/>
                <a:pathLst>
                  <a:path w="27648" h="165888" extrusionOk="0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/>
                <a:ahLst/>
                <a:cxnLst/>
                <a:rect l="l" t="t" r="r" b="b"/>
                <a:pathLst>
                  <a:path w="446977" h="35328" extrusionOk="0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79" name="Google Shape;679;p13"/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680" name="Google Shape;680;p13"/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2106" h="35328" extrusionOk="0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69803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81" name="Google Shape;681;p13"/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161" h="35328" extrusionOk="0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29803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82" name="Google Shape;682;p13"/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/>
                <a:ahLst/>
                <a:cxnLst/>
                <a:rect l="l" t="t" r="r" b="b"/>
                <a:pathLst>
                  <a:path w="79380" h="79381" extrusionOk="0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83" name="Google Shape;683;p13"/>
              <p:cNvGrpSpPr/>
              <p:nvPr/>
            </p:nvGrpSpPr>
            <p:grpSpPr>
              <a:xfrm>
                <a:off x="8547047" y="5992327"/>
                <a:ext cx="647425" cy="101806"/>
                <a:chOff x="5477907" y="5945239"/>
                <a:chExt cx="647425" cy="101806"/>
              </a:xfrm>
            </p:grpSpPr>
            <p:sp>
              <p:nvSpPr>
                <p:cNvPr id="684" name="Google Shape;684;p13"/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6" h="94357" extrusionOk="0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85" name="Google Shape;685;p13"/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96" h="67123" extrusionOk="0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86" name="Google Shape;686;p13"/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74" h="91269" extrusionOk="0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87" name="Google Shape;687;p13"/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6" h="94357" extrusionOk="0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88" name="Google Shape;688;p13"/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22" h="101806" extrusionOk="0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89" name="Google Shape;689;p13"/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75" h="92805" extrusionOk="0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90" name="Google Shape;690;p13"/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96" h="67123" extrusionOk="0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91" name="Google Shape;691;p13"/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016" h="94372" extrusionOk="0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92" name="Google Shape;692;p13"/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6" h="94357" extrusionOk="0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693" name="Google Shape;693;p13"/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694" name="Google Shape;694;p13"/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/>
                <a:ahLst/>
                <a:cxnLst/>
                <a:rect l="l" t="t" r="r" b="b"/>
                <a:pathLst>
                  <a:path w="491583" h="36925" extrusionOk="0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95" name="Google Shape;695;p13"/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/>
                <a:ahLst/>
                <a:cxnLst/>
                <a:rect l="l" t="t" r="r" b="b"/>
                <a:pathLst>
                  <a:path w="124447" h="36864" extrusionOk="0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29803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96" name="Google Shape;696;p13"/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/>
                <a:ahLst/>
                <a:cxnLst/>
                <a:rect l="l" t="t" r="r" b="b"/>
                <a:pathLst>
                  <a:path w="46080" h="61440" extrusionOk="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97" name="Google Shape;697;p13"/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/>
                <a:ahLst/>
                <a:cxnLst/>
                <a:rect l="l" t="t" r="r" b="b"/>
                <a:pathLst>
                  <a:path w="46080" h="164444" extrusionOk="0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98" name="Google Shape;698;p13"/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/>
                <a:ahLst/>
                <a:cxnLst/>
                <a:rect l="l" t="t" r="r" b="b"/>
                <a:pathLst>
                  <a:path w="70886" h="168776" extrusionOk="0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99" name="Google Shape;699;p13"/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</p:grpSpPr>
            <p:sp>
              <p:nvSpPr>
                <p:cNvPr id="700" name="Google Shape;700;p13"/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07" h="76784" extrusionOk="0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01" name="Google Shape;701;p13"/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" h="10122" extrusionOk="0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702" name="Google Shape;702;p13"/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/>
                <a:ahLst/>
                <a:cxnLst/>
                <a:rect l="l" t="t" r="r" b="b"/>
                <a:pathLst>
                  <a:path w="91177" h="89963" extrusionOk="0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03" name="Google Shape;703;p13"/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/>
                <a:ahLst/>
                <a:cxnLst/>
                <a:rect l="l" t="t" r="r" b="b"/>
                <a:pathLst>
                  <a:path w="89979" h="91423" extrusionOk="0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04" name="Google Shape;704;p13"/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/>
                <a:ahLst/>
                <a:cxnLst/>
                <a:rect l="l" t="t" r="r" b="b"/>
                <a:pathLst>
                  <a:path w="197084" h="197115" extrusionOk="0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705" name="Google Shape;705;p13"/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/>
                <a:ahLst/>
                <a:cxnLst/>
                <a:rect l="l" t="t" r="r" b="b"/>
                <a:pathLst>
                  <a:path w="79381" h="79381" extrusionOk="0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706" name="Google Shape;706;p13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07" name="Google Shape;707;p13" descr="EMB0000378c3f3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8" name="Google Shape;708;p1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9" name="Google Shape;709;p13"/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* 용량제한: 팀별 5-10분 내(100MB 이하), 기능별 소개 음성 포함, 별도 파일형태로 제출 가능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Google Shape;71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14"/>
          <p:cNvPicPr preferRelativeResize="0"/>
          <p:nvPr/>
        </p:nvPicPr>
        <p:blipFill rotWithShape="1">
          <a:blip r:embed="rId4">
            <a:alphaModFix/>
          </a:blip>
          <a:srcRect l="1" r="2095" b="22185"/>
          <a:stretch/>
        </p:blipFill>
        <p:spPr>
          <a:xfrm rot="-5400000">
            <a:off x="10645617" y="3135340"/>
            <a:ext cx="2550875" cy="54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14"/>
          <p:cNvPicPr preferRelativeResize="0"/>
          <p:nvPr/>
        </p:nvPicPr>
        <p:blipFill rotWithShape="1">
          <a:blip r:embed="rId5">
            <a:alphaModFix/>
          </a:blip>
          <a:srcRect t="5760" r="51762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14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rgbClr val="F2F2F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718" name="Google Shape;718;p14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719" name="Google Shape;719;p14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sz="1200" b="1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20" name="Google Shape;720;p14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721" name="Google Shape;721;p14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0" rIns="91425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4400" b="1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22" name="Google Shape;722;p14"/>
          <p:cNvPicPr preferRelativeResize="0"/>
          <p:nvPr/>
        </p:nvPicPr>
        <p:blipFill rotWithShape="1">
          <a:blip r:embed="rId6">
            <a:alphaModFix amt="27000"/>
          </a:blip>
          <a:srcRect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3" name="Google Shape;723;p14"/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724" name="Google Shape;724;p14"/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프로젝트 </a:t>
              </a: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 의도와의 부합 정도 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실무 활용 가능 정도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lang="ko-KR" sz="1800" b="1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완성도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8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훈련생의 자체적인 평가 의견과 느낀</a:t>
              </a:r>
              <a:r>
                <a:rPr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점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작성한다.</a:t>
              </a:r>
              <a:endParaRPr/>
            </a:p>
          </p:txBody>
        </p:sp>
        <p:sp>
          <p:nvSpPr>
            <p:cNvPr id="725" name="Google Shape;725;p14"/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/>
              <a:ahLst/>
              <a:cxnLst/>
              <a:rect l="l" t="t" r="r" b="b"/>
              <a:pathLst>
                <a:path w="450214" h="506845" extrusionOk="0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26" name="Google Shape;726;p14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4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8" name="Google Shape;728;p14"/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729" name="Google Shape;729;p14"/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2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0" name="Google Shape;730;p14"/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1" name="Google Shape;731;p14"/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기획의 관점에서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완성도 평가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(10점 만점)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32" name="Google Shape;732;p14"/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733" name="Google Shape;733;p14"/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4" name="Google Shape;734;p14"/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5" name="Google Shape;735;p14"/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추후 개선점이나 보완할 점</a:t>
              </a:r>
              <a:r>
                <a:rPr lang="ko-KR" sz="1800" b="1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 내용 정리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36" name="Google Shape;736;p14"/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737" name="Google Shape;737;p14"/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2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8" name="Google Shape;738;p14"/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39" name="Google Shape;739;p14"/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프로젝트를 수행하면서</a:t>
              </a:r>
              <a:b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800" b="1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느낀 점이나 경험한 성과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(경력 계획 등과 연관)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40" name="Google Shape;740;p14"/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741" name="Google Shape;741;p14"/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lt1">
                <a:alpha val="84705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2" name="Google Shape;742;p14"/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3" name="Google Shape;743;p14"/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또는 우리 팀이 </a:t>
              </a:r>
              <a:r>
                <a:rPr lang="ko-KR" sz="1800" b="1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잘한 부분과 아쉬운 점</a:t>
              </a:r>
              <a:endParaRPr sz="1800" b="1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4" name="Google Shape;744;p14"/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평가 결과, 정확도가 00.00%로</a:t>
              </a:r>
              <a:b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정확도 향상을 위해 모델 추후 개선 필요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5" name="Google Shape;745;p14"/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예</a:t>
              </a:r>
              <a:endParaRPr/>
            </a:p>
          </p:txBody>
        </p:sp>
      </p:grpSp>
      <p:pic>
        <p:nvPicPr>
          <p:cNvPr id="746" name="Google Shape;746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800000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7" name="Google Shape;747;p14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48" name="Google Shape;748;p14" descr="EMB0000378c3f3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9" name="Google Shape;749;p14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2357</Words>
  <Application>Microsoft Office PowerPoint</Application>
  <PresentationFormat>와이드스크린</PresentationFormat>
  <Paragraphs>479</Paragraphs>
  <Slides>24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1" baseType="lpstr">
      <vt:lpstr>Noto Sans Symbols</vt:lpstr>
      <vt:lpstr>Gulimche</vt:lpstr>
      <vt:lpstr>Malgun Gothic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김준영</dc:creator>
  <cp:lastModifiedBy>이상원 이</cp:lastModifiedBy>
  <cp:revision>2</cp:revision>
  <dcterms:created xsi:type="dcterms:W3CDTF">2023-12-20T03:00:25Z</dcterms:created>
  <dcterms:modified xsi:type="dcterms:W3CDTF">2026-04-20T04:11:06Z</dcterms:modified>
</cp:coreProperties>
</file>